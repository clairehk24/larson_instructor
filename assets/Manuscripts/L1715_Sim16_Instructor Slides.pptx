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338" r:id="rId7"/>
    <p:sldId id="262" r:id="rId8"/>
    <p:sldId id="263" r:id="rId9"/>
    <p:sldId id="279" r:id="rId10"/>
    <p:sldId id="280" r:id="rId11"/>
    <p:sldId id="314" r:id="rId12"/>
    <p:sldId id="315" r:id="rId13"/>
    <p:sldId id="316" r:id="rId14"/>
    <p:sldId id="317" r:id="rId15"/>
    <p:sldId id="318" r:id="rId16"/>
    <p:sldId id="307" r:id="rId17"/>
    <p:sldId id="320" r:id="rId18"/>
    <p:sldId id="319"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6" r:id="rId35"/>
    <p:sldId id="340" r:id="rId36"/>
    <p:sldId id="33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4C-LE" initials="S4C-LE" lastIdx="2" clrIdx="0">
    <p:extLst>
      <p:ext uri="{19B8F6BF-5375-455C-9EA6-DF929625EA0E}">
        <p15:presenceInfo xmlns:p15="http://schemas.microsoft.com/office/powerpoint/2012/main" userId="S4C-LE" providerId="None"/>
      </p:ext>
    </p:extLst>
  </p:cmAuthor>
  <p:cmAuthor id="2" name="Josh Larson" initials="JL" lastIdx="6" clrIdx="1">
    <p:extLst>
      <p:ext uri="{19B8F6BF-5375-455C-9EA6-DF929625EA0E}">
        <p15:presenceInfo xmlns:p15="http://schemas.microsoft.com/office/powerpoint/2012/main" userId="S::u0030524@umail.utah.edu::1264716f-b04e-4019-99da-45793009c918" providerId="AD"/>
      </p:ext>
    </p:extLst>
  </p:cmAuthor>
  <p:cmAuthor id="3" name="Hannah Stedge" initials="HS" lastIdx="5" clrIdx="2">
    <p:extLst>
      <p:ext uri="{19B8F6BF-5375-455C-9EA6-DF929625EA0E}">
        <p15:presenceInfo xmlns:p15="http://schemas.microsoft.com/office/powerpoint/2012/main" userId="283644881_tp_box_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A1CDD1-9561-BD44-A9BD-896BA9792672}" v="6" dt="2026-05-08T21:07:21.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3"/>
    <p:restoredTop sz="93969" autoAdjust="0"/>
  </p:normalViewPr>
  <p:slideViewPr>
    <p:cSldViewPr snapToGrid="0">
      <p:cViewPr varScale="1">
        <p:scale>
          <a:sx n="64" d="100"/>
          <a:sy n="64"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Stedge" userId="283644881_tp_box_2" providerId="OAuth2" clId="{34D56721-9B35-517F-8977-78DEF5461DD7}"/>
    <pc:docChg chg="undo custSel modSld">
      <pc:chgData name="Hannah Stedge" userId="283644881_tp_box_2" providerId="OAuth2" clId="{34D56721-9B35-517F-8977-78DEF5461DD7}" dt="2026-05-08T21:09:30.493" v="221" actId="20577"/>
      <pc:docMkLst>
        <pc:docMk/>
      </pc:docMkLst>
      <pc:sldChg chg="modCm">
        <pc:chgData name="Hannah Stedge" userId="283644881_tp_box_2" providerId="OAuth2" clId="{34D56721-9B35-517F-8977-78DEF5461DD7}" dt="2026-05-08T20:53:34.290" v="0"/>
        <pc:sldMkLst>
          <pc:docMk/>
          <pc:sldMk cId="850879108" sldId="257"/>
        </pc:sldMkLst>
      </pc:sldChg>
      <pc:sldChg chg="modSp mod modCm">
        <pc:chgData name="Hannah Stedge" userId="283644881_tp_box_2" providerId="OAuth2" clId="{34D56721-9B35-517F-8977-78DEF5461DD7}" dt="2026-05-08T20:58:44.117" v="27" actId="20577"/>
        <pc:sldMkLst>
          <pc:docMk/>
          <pc:sldMk cId="2772343606" sldId="258"/>
        </pc:sldMkLst>
        <pc:spChg chg="mod">
          <ac:chgData name="Hannah Stedge" userId="283644881_tp_box_2" providerId="OAuth2" clId="{34D56721-9B35-517F-8977-78DEF5461DD7}" dt="2026-05-08T20:58:44.117" v="27" actId="20577"/>
          <ac:spMkLst>
            <pc:docMk/>
            <pc:sldMk cId="2772343606" sldId="258"/>
            <ac:spMk id="4" creationId="{093BB97D-938A-351E-BB29-C42870AE0341}"/>
          </ac:spMkLst>
        </pc:spChg>
      </pc:sldChg>
      <pc:sldChg chg="modSp mod">
        <pc:chgData name="Hannah Stedge" userId="283644881_tp_box_2" providerId="OAuth2" clId="{34D56721-9B35-517F-8977-78DEF5461DD7}" dt="2026-05-08T21:00:33.879" v="63" actId="20577"/>
        <pc:sldMkLst>
          <pc:docMk/>
          <pc:sldMk cId="261114830" sldId="262"/>
        </pc:sldMkLst>
        <pc:spChg chg="mod">
          <ac:chgData name="Hannah Stedge" userId="283644881_tp_box_2" providerId="OAuth2" clId="{34D56721-9B35-517F-8977-78DEF5461DD7}" dt="2026-05-08T21:00:33.879" v="63" actId="20577"/>
          <ac:spMkLst>
            <pc:docMk/>
            <pc:sldMk cId="261114830" sldId="262"/>
            <ac:spMk id="4" creationId="{039FA755-D8E8-6DE3-17B3-D10C28FB09C4}"/>
          </ac:spMkLst>
        </pc:spChg>
      </pc:sldChg>
      <pc:sldChg chg="modSp mod">
        <pc:chgData name="Hannah Stedge" userId="283644881_tp_box_2" providerId="OAuth2" clId="{34D56721-9B35-517F-8977-78DEF5461DD7}" dt="2026-05-08T21:00:48.682" v="83" actId="20577"/>
        <pc:sldMkLst>
          <pc:docMk/>
          <pc:sldMk cId="728407762" sldId="263"/>
        </pc:sldMkLst>
        <pc:spChg chg="mod">
          <ac:chgData name="Hannah Stedge" userId="283644881_tp_box_2" providerId="OAuth2" clId="{34D56721-9B35-517F-8977-78DEF5461DD7}" dt="2026-05-08T21:00:48.682" v="83" actId="20577"/>
          <ac:spMkLst>
            <pc:docMk/>
            <pc:sldMk cId="728407762" sldId="263"/>
            <ac:spMk id="3" creationId="{F5FD6979-3BC0-EDB6-2D2C-26BFEF4A646B}"/>
          </ac:spMkLst>
        </pc:spChg>
      </pc:sldChg>
      <pc:sldChg chg="modCm">
        <pc:chgData name="Hannah Stedge" userId="283644881_tp_box_2" providerId="OAuth2" clId="{34D56721-9B35-517F-8977-78DEF5461DD7}" dt="2026-05-08T21:02:31.215" v="84"/>
        <pc:sldMkLst>
          <pc:docMk/>
          <pc:sldMk cId="3952898064" sldId="316"/>
        </pc:sldMkLst>
      </pc:sldChg>
      <pc:sldChg chg="modSp mod modCm">
        <pc:chgData name="Hannah Stedge" userId="283644881_tp_box_2" providerId="OAuth2" clId="{34D56721-9B35-517F-8977-78DEF5461DD7}" dt="2026-05-08T21:03:45.344" v="98"/>
        <pc:sldMkLst>
          <pc:docMk/>
          <pc:sldMk cId="1378598333" sldId="317"/>
        </pc:sldMkLst>
        <pc:spChg chg="mod">
          <ac:chgData name="Hannah Stedge" userId="283644881_tp_box_2" providerId="OAuth2" clId="{34D56721-9B35-517F-8977-78DEF5461DD7}" dt="2026-05-08T21:03:20.224" v="97" actId="20577"/>
          <ac:spMkLst>
            <pc:docMk/>
            <pc:sldMk cId="1378598333" sldId="317"/>
            <ac:spMk id="3" creationId="{52186604-550E-F24D-9570-024B58E585FE}"/>
          </ac:spMkLst>
        </pc:spChg>
      </pc:sldChg>
      <pc:sldChg chg="modSp mod">
        <pc:chgData name="Hannah Stedge" userId="283644881_tp_box_2" providerId="OAuth2" clId="{34D56721-9B35-517F-8977-78DEF5461DD7}" dt="2026-05-08T21:04:22.139" v="127" actId="20577"/>
        <pc:sldMkLst>
          <pc:docMk/>
          <pc:sldMk cId="1722889856" sldId="318"/>
        </pc:sldMkLst>
        <pc:spChg chg="mod">
          <ac:chgData name="Hannah Stedge" userId="283644881_tp_box_2" providerId="OAuth2" clId="{34D56721-9B35-517F-8977-78DEF5461DD7}" dt="2026-05-08T21:04:22.139" v="127" actId="20577"/>
          <ac:spMkLst>
            <pc:docMk/>
            <pc:sldMk cId="1722889856" sldId="318"/>
            <ac:spMk id="11" creationId="{67EA3D52-9E7C-485A-419D-FC853FF2A38A}"/>
          </ac:spMkLst>
        </pc:spChg>
      </pc:sldChg>
      <pc:sldChg chg="modSp mod">
        <pc:chgData name="Hannah Stedge" userId="283644881_tp_box_2" providerId="OAuth2" clId="{34D56721-9B35-517F-8977-78DEF5461DD7}" dt="2026-05-08T21:04:55.848" v="162" actId="20577"/>
        <pc:sldMkLst>
          <pc:docMk/>
          <pc:sldMk cId="2768933524" sldId="319"/>
        </pc:sldMkLst>
        <pc:spChg chg="mod">
          <ac:chgData name="Hannah Stedge" userId="283644881_tp_box_2" providerId="OAuth2" clId="{34D56721-9B35-517F-8977-78DEF5461DD7}" dt="2026-05-08T21:04:55.848" v="162" actId="20577"/>
          <ac:spMkLst>
            <pc:docMk/>
            <pc:sldMk cId="2768933524" sldId="319"/>
            <ac:spMk id="4" creationId="{6C680840-8A5D-36A8-136A-8B6C8E67DF9C}"/>
          </ac:spMkLst>
        </pc:spChg>
      </pc:sldChg>
      <pc:sldChg chg="modSp mod">
        <pc:chgData name="Hannah Stedge" userId="283644881_tp_box_2" providerId="OAuth2" clId="{34D56721-9B35-517F-8977-78DEF5461DD7}" dt="2026-05-08T21:05:35.312" v="165" actId="20577"/>
        <pc:sldMkLst>
          <pc:docMk/>
          <pc:sldMk cId="2214585756" sldId="323"/>
        </pc:sldMkLst>
        <pc:spChg chg="mod">
          <ac:chgData name="Hannah Stedge" userId="283644881_tp_box_2" providerId="OAuth2" clId="{34D56721-9B35-517F-8977-78DEF5461DD7}" dt="2026-05-08T21:05:35.312" v="165" actId="20577"/>
          <ac:spMkLst>
            <pc:docMk/>
            <pc:sldMk cId="2214585756" sldId="323"/>
            <ac:spMk id="7" creationId="{31639E2A-0941-76BB-7AB4-7830F45F5707}"/>
          </ac:spMkLst>
        </pc:spChg>
      </pc:sldChg>
      <pc:sldChg chg="modSp mod">
        <pc:chgData name="Hannah Stedge" userId="283644881_tp_box_2" providerId="OAuth2" clId="{34D56721-9B35-517F-8977-78DEF5461DD7}" dt="2026-05-08T21:06:00.356" v="191" actId="20577"/>
        <pc:sldMkLst>
          <pc:docMk/>
          <pc:sldMk cId="450905040" sldId="324"/>
        </pc:sldMkLst>
        <pc:spChg chg="mod">
          <ac:chgData name="Hannah Stedge" userId="283644881_tp_box_2" providerId="OAuth2" clId="{34D56721-9B35-517F-8977-78DEF5461DD7}" dt="2026-05-08T21:06:00.356" v="191" actId="20577"/>
          <ac:spMkLst>
            <pc:docMk/>
            <pc:sldMk cId="450905040" sldId="324"/>
            <ac:spMk id="2" creationId="{D919D6F4-D176-FBC6-0264-01CC522125C0}"/>
          </ac:spMkLst>
        </pc:spChg>
      </pc:sldChg>
      <pc:sldChg chg="modCm">
        <pc:chgData name="Hannah Stedge" userId="283644881_tp_box_2" providerId="OAuth2" clId="{34D56721-9B35-517F-8977-78DEF5461DD7}" dt="2026-05-08T21:07:21.245" v="192"/>
        <pc:sldMkLst>
          <pc:docMk/>
          <pc:sldMk cId="1496249458" sldId="327"/>
        </pc:sldMkLst>
      </pc:sldChg>
      <pc:sldChg chg="modSp mod">
        <pc:chgData name="Hannah Stedge" userId="283644881_tp_box_2" providerId="OAuth2" clId="{34D56721-9B35-517F-8977-78DEF5461DD7}" dt="2026-05-08T21:08:04.887" v="216" actId="20577"/>
        <pc:sldMkLst>
          <pc:docMk/>
          <pc:sldMk cId="3862135061" sldId="329"/>
        </pc:sldMkLst>
        <pc:spChg chg="mod">
          <ac:chgData name="Hannah Stedge" userId="283644881_tp_box_2" providerId="OAuth2" clId="{34D56721-9B35-517F-8977-78DEF5461DD7}" dt="2026-05-08T21:08:04.887" v="216" actId="20577"/>
          <ac:spMkLst>
            <pc:docMk/>
            <pc:sldMk cId="3862135061" sldId="329"/>
            <ac:spMk id="3" creationId="{D6D83973-576E-ABA2-9387-CC4BB36B1167}"/>
          </ac:spMkLst>
        </pc:spChg>
      </pc:sldChg>
      <pc:sldChg chg="modSp mod">
        <pc:chgData name="Hannah Stedge" userId="283644881_tp_box_2" providerId="OAuth2" clId="{34D56721-9B35-517F-8977-78DEF5461DD7}" dt="2026-05-08T21:09:30.493" v="221" actId="20577"/>
        <pc:sldMkLst>
          <pc:docMk/>
          <pc:sldMk cId="4129428636" sldId="334"/>
        </pc:sldMkLst>
        <pc:spChg chg="mod">
          <ac:chgData name="Hannah Stedge" userId="283644881_tp_box_2" providerId="OAuth2" clId="{34D56721-9B35-517F-8977-78DEF5461DD7}" dt="2026-05-08T21:09:30.493" v="221" actId="20577"/>
          <ac:spMkLst>
            <pc:docMk/>
            <pc:sldMk cId="4129428636" sldId="334"/>
            <ac:spMk id="3" creationId="{741A7515-CFE5-C443-F2D6-C4BA77240F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9D1CC-DA6D-B540-B3AB-1D3F7252007E}" type="datetimeFigureOut">
              <a:rPr lang="en-US" smtClean="0"/>
              <a:t>8/12/2026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62947-8F02-F145-81E6-EEB79B8D8823}" type="slidenum">
              <a:rPr lang="en-US" smtClean="0"/>
              <a:t>‹#›</a:t>
            </a:fld>
            <a:endParaRPr lang="en-US" dirty="0"/>
          </a:p>
        </p:txBody>
      </p:sp>
    </p:spTree>
    <p:extLst>
      <p:ext uri="{BB962C8B-B14F-4D97-AF65-F5344CB8AC3E}">
        <p14:creationId xmlns:p14="http://schemas.microsoft.com/office/powerpoint/2010/main" val="1852572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1</a:t>
            </a:fld>
            <a:endParaRPr lang="en-US" dirty="0"/>
          </a:p>
        </p:txBody>
      </p:sp>
    </p:spTree>
    <p:extLst>
      <p:ext uri="{BB962C8B-B14F-4D97-AF65-F5344CB8AC3E}">
        <p14:creationId xmlns:p14="http://schemas.microsoft.com/office/powerpoint/2010/main" val="4286252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a:t>
            </a:fld>
            <a:endParaRPr lang="en-US" dirty="0"/>
          </a:p>
        </p:txBody>
      </p:sp>
    </p:spTree>
    <p:extLst>
      <p:ext uri="{BB962C8B-B14F-4D97-AF65-F5344CB8AC3E}">
        <p14:creationId xmlns:p14="http://schemas.microsoft.com/office/powerpoint/2010/main" val="89141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5</a:t>
            </a:fld>
            <a:endParaRPr lang="en-US" dirty="0"/>
          </a:p>
        </p:txBody>
      </p:sp>
    </p:spTree>
    <p:extLst>
      <p:ext uri="{BB962C8B-B14F-4D97-AF65-F5344CB8AC3E}">
        <p14:creationId xmlns:p14="http://schemas.microsoft.com/office/powerpoint/2010/main" val="2530277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8</a:t>
            </a:fld>
            <a:endParaRPr lang="en-US" dirty="0"/>
          </a:p>
        </p:txBody>
      </p:sp>
    </p:spTree>
    <p:extLst>
      <p:ext uri="{BB962C8B-B14F-4D97-AF65-F5344CB8AC3E}">
        <p14:creationId xmlns:p14="http://schemas.microsoft.com/office/powerpoint/2010/main" val="774216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3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latin typeface="Calibri" panose="020F0502020204030204" pitchFamily="34" charset="0"/>
                <a:ea typeface="Calibri" panose="020F0502020204030204" pitchFamily="34" charset="0"/>
                <a:cs typeface="Times New Roman" panose="02020603050405020304" pitchFamily="18" charset="0"/>
              </a:rPr>
              <a:t>Notecards are a separate file.</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Instructor: You will each be given 3 different pictures of the same injury at the same state of development but in 3 different skin tones. Evaluate the person in front of you but the notecards can be used as a reference.</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notecard and some photos. Please read through the notecard right here and ask me if you have any questions. These photos should be shared with provider and patient.</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endParaRPr lang="en-US" sz="1800" dirty="0"/>
          </a:p>
          <a:p>
            <a:endParaRPr lang="en-US" sz="1800" dirty="0"/>
          </a:p>
          <a:p>
            <a:endParaRPr lang="en-US" sz="1800" dirty="0"/>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p:txBody>
      </p:sp>
      <p:sp>
        <p:nvSpPr>
          <p:cNvPr id="4" name="Slide Number Placeholder 3"/>
          <p:cNvSpPr>
            <a:spLocks noGrp="1"/>
          </p:cNvSpPr>
          <p:nvPr>
            <p:ph type="sldNum" sz="quarter" idx="5"/>
          </p:nvPr>
        </p:nvSpPr>
        <p:spPr/>
        <p:txBody>
          <a:bodyPr/>
          <a:lstStyle/>
          <a:p>
            <a:fld id="{2C9721C2-65B8-034C-91D9-328639D69D8D}" type="slidenum">
              <a:rPr lang="en-US" smtClean="0"/>
              <a:t>9</a:t>
            </a:fld>
            <a:endParaRPr lang="en-US" dirty="0"/>
          </a:p>
        </p:txBody>
      </p:sp>
    </p:spTree>
    <p:extLst>
      <p:ext uri="{BB962C8B-B14F-4D97-AF65-F5344CB8AC3E}">
        <p14:creationId xmlns:p14="http://schemas.microsoft.com/office/powerpoint/2010/main" val="1704770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10</a:t>
            </a:fld>
            <a:endParaRPr lang="en-US" dirty="0"/>
          </a:p>
        </p:txBody>
      </p:sp>
    </p:spTree>
    <p:extLst>
      <p:ext uri="{BB962C8B-B14F-4D97-AF65-F5344CB8AC3E}">
        <p14:creationId xmlns:p14="http://schemas.microsoft.com/office/powerpoint/2010/main" val="58149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8 minutes</a:t>
            </a: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1800" dirty="0"/>
          </a:p>
          <a:p>
            <a:endParaRPr lang="en-US" sz="1800" dirty="0"/>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p:txBody>
      </p:sp>
      <p:sp>
        <p:nvSpPr>
          <p:cNvPr id="4" name="Slide Number Placeholder 3"/>
          <p:cNvSpPr>
            <a:spLocks noGrp="1"/>
          </p:cNvSpPr>
          <p:nvPr>
            <p:ph type="sldNum" sz="quarter" idx="5"/>
          </p:nvPr>
        </p:nvSpPr>
        <p:spPr/>
        <p:txBody>
          <a:bodyPr/>
          <a:lstStyle/>
          <a:p>
            <a:fld id="{2C9721C2-65B8-034C-91D9-328639D69D8D}" type="slidenum">
              <a:rPr lang="en-US" smtClean="0"/>
              <a:t>11</a:t>
            </a:fld>
            <a:endParaRPr lang="en-US" dirty="0"/>
          </a:p>
        </p:txBody>
      </p:sp>
    </p:spTree>
    <p:extLst>
      <p:ext uri="{BB962C8B-B14F-4D97-AF65-F5344CB8AC3E}">
        <p14:creationId xmlns:p14="http://schemas.microsoft.com/office/powerpoint/2010/main" val="3251673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12</a:t>
            </a:fld>
            <a:endParaRPr lang="en-US" dirty="0"/>
          </a:p>
        </p:txBody>
      </p:sp>
    </p:spTree>
    <p:extLst>
      <p:ext uri="{BB962C8B-B14F-4D97-AF65-F5344CB8AC3E}">
        <p14:creationId xmlns:p14="http://schemas.microsoft.com/office/powerpoint/2010/main" val="3655964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13</a:t>
            </a:fld>
            <a:endParaRPr lang="en-US" dirty="0"/>
          </a:p>
        </p:txBody>
      </p:sp>
    </p:spTree>
    <p:extLst>
      <p:ext uri="{BB962C8B-B14F-4D97-AF65-F5344CB8AC3E}">
        <p14:creationId xmlns:p14="http://schemas.microsoft.com/office/powerpoint/2010/main" val="1281930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latin typeface="Calibri" panose="020F0502020204030204" pitchFamily="34" charset="0"/>
                <a:ea typeface="Calibri" panose="020F0502020204030204" pitchFamily="34" charset="0"/>
                <a:cs typeface="Times New Roman" panose="02020603050405020304" pitchFamily="18" charset="0"/>
              </a:rPr>
              <a:t>Notecards are a separate file.</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Instructor: You will each be given 3 different pictures of the same injury at the same state of development but in 3 different skin tones. Evaluate the person in front of you but the notecards can be used as a reference.</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notecard and some photos. Please read through the notecard right here and ask me if you have any questions. These photos should be shared with provider and patient.</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endParaRPr lang="en-US" dirty="0"/>
          </a:p>
        </p:txBody>
      </p:sp>
      <p:sp>
        <p:nvSpPr>
          <p:cNvPr id="4" name="Slide Number Placeholder 3"/>
          <p:cNvSpPr>
            <a:spLocks noGrp="1"/>
          </p:cNvSpPr>
          <p:nvPr>
            <p:ph type="sldNum" sz="quarter" idx="5"/>
          </p:nvPr>
        </p:nvSpPr>
        <p:spPr/>
        <p:txBody>
          <a:bodyPr/>
          <a:lstStyle/>
          <a:p>
            <a:fld id="{2C9721C2-65B8-034C-91D9-328639D69D8D}" type="slidenum">
              <a:rPr lang="en-US" smtClean="0"/>
              <a:t>16</a:t>
            </a:fld>
            <a:endParaRPr lang="en-US" dirty="0"/>
          </a:p>
        </p:txBody>
      </p:sp>
    </p:spTree>
    <p:extLst>
      <p:ext uri="{BB962C8B-B14F-4D97-AF65-F5344CB8AC3E}">
        <p14:creationId xmlns:p14="http://schemas.microsoft.com/office/powerpoint/2010/main" val="806618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17</a:t>
            </a:fld>
            <a:endParaRPr lang="en-US" dirty="0"/>
          </a:p>
        </p:txBody>
      </p:sp>
    </p:spTree>
    <p:extLst>
      <p:ext uri="{BB962C8B-B14F-4D97-AF65-F5344CB8AC3E}">
        <p14:creationId xmlns:p14="http://schemas.microsoft.com/office/powerpoint/2010/main" val="2463428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19</a:t>
            </a:fld>
            <a:endParaRPr lang="en-US" dirty="0"/>
          </a:p>
        </p:txBody>
      </p:sp>
    </p:spTree>
    <p:extLst>
      <p:ext uri="{BB962C8B-B14F-4D97-AF65-F5344CB8AC3E}">
        <p14:creationId xmlns:p14="http://schemas.microsoft.com/office/powerpoint/2010/main" val="316843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20</a:t>
            </a:fld>
            <a:endParaRPr lang="en-US" dirty="0"/>
          </a:p>
        </p:txBody>
      </p:sp>
    </p:spTree>
    <p:extLst>
      <p:ext uri="{BB962C8B-B14F-4D97-AF65-F5344CB8AC3E}">
        <p14:creationId xmlns:p14="http://schemas.microsoft.com/office/powerpoint/2010/main" val="1522802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22</a:t>
            </a:fld>
            <a:endParaRPr lang="en-US" dirty="0"/>
          </a:p>
        </p:txBody>
      </p:sp>
    </p:spTree>
    <p:extLst>
      <p:ext uri="{BB962C8B-B14F-4D97-AF65-F5344CB8AC3E}">
        <p14:creationId xmlns:p14="http://schemas.microsoft.com/office/powerpoint/2010/main" val="4197426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24</a:t>
            </a:fld>
            <a:endParaRPr lang="en-US" dirty="0"/>
          </a:p>
        </p:txBody>
      </p:sp>
    </p:spTree>
    <p:extLst>
      <p:ext uri="{BB962C8B-B14F-4D97-AF65-F5344CB8AC3E}">
        <p14:creationId xmlns:p14="http://schemas.microsoft.com/office/powerpoint/2010/main" val="2830321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27</a:t>
            </a:fld>
            <a:endParaRPr lang="en-US" dirty="0"/>
          </a:p>
        </p:txBody>
      </p:sp>
    </p:spTree>
    <p:extLst>
      <p:ext uri="{BB962C8B-B14F-4D97-AF65-F5344CB8AC3E}">
        <p14:creationId xmlns:p14="http://schemas.microsoft.com/office/powerpoint/2010/main" val="2646397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28</a:t>
            </a:fld>
            <a:endParaRPr lang="en-US" dirty="0"/>
          </a:p>
        </p:txBody>
      </p:sp>
    </p:spTree>
    <p:extLst>
      <p:ext uri="{BB962C8B-B14F-4D97-AF65-F5344CB8AC3E}">
        <p14:creationId xmlns:p14="http://schemas.microsoft.com/office/powerpoint/2010/main" val="1842504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30</a:t>
            </a:fld>
            <a:endParaRPr lang="en-US" dirty="0"/>
          </a:p>
        </p:txBody>
      </p:sp>
    </p:spTree>
    <p:extLst>
      <p:ext uri="{BB962C8B-B14F-4D97-AF65-F5344CB8AC3E}">
        <p14:creationId xmlns:p14="http://schemas.microsoft.com/office/powerpoint/2010/main" val="2244250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32</a:t>
            </a:fld>
            <a:endParaRPr lang="en-US" dirty="0"/>
          </a:p>
        </p:txBody>
      </p:sp>
    </p:spTree>
    <p:extLst>
      <p:ext uri="{BB962C8B-B14F-4D97-AF65-F5344CB8AC3E}">
        <p14:creationId xmlns:p14="http://schemas.microsoft.com/office/powerpoint/2010/main" val="36544963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34</a:t>
            </a:fld>
            <a:endParaRPr lang="en-US" dirty="0"/>
          </a:p>
        </p:txBody>
      </p:sp>
    </p:spTree>
    <p:extLst>
      <p:ext uri="{BB962C8B-B14F-4D97-AF65-F5344CB8AC3E}">
        <p14:creationId xmlns:p14="http://schemas.microsoft.com/office/powerpoint/2010/main" val="1057323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36</a:t>
            </a:fld>
            <a:endParaRPr lang="en-US" dirty="0"/>
          </a:p>
        </p:txBody>
      </p:sp>
    </p:spTree>
    <p:extLst>
      <p:ext uri="{BB962C8B-B14F-4D97-AF65-F5344CB8AC3E}">
        <p14:creationId xmlns:p14="http://schemas.microsoft.com/office/powerpoint/2010/main" val="313588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7886-D153-C190-6EED-5158670D16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4A468-0FFA-7B1A-37A8-18F6DD09F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6EF7A-31C2-9223-F229-3A10DF6367BF}"/>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7F6428C4-759A-FEA0-F9E8-E936BA0517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DB4687-279B-C924-590F-48E97E221B0F}"/>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7098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10531-3FFF-E693-F3BD-5BD66B5CD1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86598E-AEE5-FF12-28A5-6FB6460647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5366E7-B0AB-D443-3105-F99C33E7918F}"/>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7E66380E-58FE-C6AD-9228-77CF4B00D9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BF06BD-83FB-0E20-ABAA-4BC08C5DAF06}"/>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536246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E68F-74D7-32FF-686F-B57A76BFC7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7672F1-1B6C-B98D-2130-FECAF8D4C8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954DD-0D01-FF5F-5E43-12A9D32103FE}"/>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CD9D5855-EACB-F81B-03E9-556CFD5577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77C85F7-D438-3869-EAFE-855A405BD30B}"/>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292789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23D9-7CFF-0EFD-E526-B56670B185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463271-53F9-C20B-F6AB-86FAD2B23E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0E1656-E3EA-DC25-8949-C06384922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2163BA-44C7-EB07-2DFB-FD979588F092}"/>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6" name="Footer Placeholder 5">
            <a:extLst>
              <a:ext uri="{FF2B5EF4-FFF2-40B4-BE49-F238E27FC236}">
                <a16:creationId xmlns:a16="http://schemas.microsoft.com/office/drawing/2014/main" id="{2777A60C-66C7-7B38-69EE-D2BC11A313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2593A7-F12B-A716-4753-61B007A747EA}"/>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055520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4A50-9467-1BDA-6A76-59D77E5F39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E5B9FE-A680-7642-6C2D-6BC9FA6D7C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3AC3FD-43F9-F279-811B-7A3F9750C0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FDFEA8-8339-2BB3-9F2E-A4F89359E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1F25C-131E-006A-160E-7DEC41E10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DE442-4FB1-F5BF-275C-827DE863C060}"/>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8" name="Footer Placeholder 7">
            <a:extLst>
              <a:ext uri="{FF2B5EF4-FFF2-40B4-BE49-F238E27FC236}">
                <a16:creationId xmlns:a16="http://schemas.microsoft.com/office/drawing/2014/main" id="{A4C7FA9D-34B0-16BE-3899-877643FF76B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D461CEE-19ED-7C5C-FBA0-CD852CE77064}"/>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607886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E268-098E-BB93-4B4E-69AB3AF668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42B50-F3D8-55D1-14EF-F1A4B5B10420}"/>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4" name="Footer Placeholder 3">
            <a:extLst>
              <a:ext uri="{FF2B5EF4-FFF2-40B4-BE49-F238E27FC236}">
                <a16:creationId xmlns:a16="http://schemas.microsoft.com/office/drawing/2014/main" id="{D0C0FB5A-EDF2-2356-6165-4AFBB8DD637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5E46EAB-A325-8B4B-42E4-DC43397485E6}"/>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8022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6365E-BF57-976A-4B08-636198F6DCE9}"/>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3" name="Footer Placeholder 2">
            <a:extLst>
              <a:ext uri="{FF2B5EF4-FFF2-40B4-BE49-F238E27FC236}">
                <a16:creationId xmlns:a16="http://schemas.microsoft.com/office/drawing/2014/main" id="{8F5A5253-DD13-1DC6-7F89-AAAE3F6ED26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8221D85-DE73-5CCC-8202-920626AED26B}"/>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23420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111A-7D55-2584-FE60-F59449C69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D8B67E-CC36-B1DC-D979-2F3DF189F8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ACFAD1-5385-87CF-F199-6DCAF0A2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FA105-65A1-4ADB-A6F9-2E46ECBBD4BA}"/>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6" name="Footer Placeholder 5">
            <a:extLst>
              <a:ext uri="{FF2B5EF4-FFF2-40B4-BE49-F238E27FC236}">
                <a16:creationId xmlns:a16="http://schemas.microsoft.com/office/drawing/2014/main" id="{83EE617A-CBE5-CEFD-D0E4-0A90FB043E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85B00EF-23F5-C046-6140-6636FEE2E670}"/>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7138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2AA6-BC67-5303-D30A-E94ED82C0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8D5B40-3976-E4E4-BA2A-63DE79479F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6134D24-0680-18B3-5A4E-B5D25AB22D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1AD18-7BA3-A584-51FA-B60C56F7FB8F}"/>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6" name="Footer Placeholder 5">
            <a:extLst>
              <a:ext uri="{FF2B5EF4-FFF2-40B4-BE49-F238E27FC236}">
                <a16:creationId xmlns:a16="http://schemas.microsoft.com/office/drawing/2014/main" id="{3508D79D-AC5F-A522-08D5-6826AFA092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80D03D-7FBE-2CCA-64DB-0D9A64162D89}"/>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205901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1C16-F02B-A6A5-37D8-A0E2973610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6E230F-0778-990B-1BB4-D42F25720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5164C2-05D4-064C-A736-52F83EFFBA1E}"/>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EDB219DB-61A2-8538-4245-4A5088EECB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759E4B-089B-F0FA-6DFE-76590E3D99F4}"/>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616075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14AAB8-4602-9738-7336-9A505C058F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70FE2-3DE9-4B04-9E93-BF914E6CD2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A3629-ADE0-42C4-9AA2-1CE6BA45172B}"/>
              </a:ext>
            </a:extLst>
          </p:cNvPr>
          <p:cNvSpPr>
            <a:spLocks noGrp="1"/>
          </p:cNvSpPr>
          <p:nvPr>
            <p:ph type="dt" sz="half" idx="10"/>
          </p:nvPr>
        </p:nvSpPr>
        <p:spPr/>
        <p:txBody>
          <a:body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4B9C4B5B-604F-F2FB-B710-DF9724C231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2622A7-565C-2405-61D8-500B95B69E2A}"/>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055464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79408-8651-3097-6F5E-2FD7A8AA0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8E4AB7-D08D-1F7A-B166-C5F0A95FF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3E8C6-D6E1-D2B1-6ABA-A4F09568F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51BD0-6F40-8441-BA56-9EA644E5E3FB}" type="datetimeFigureOut">
              <a:rPr lang="en-US" smtClean="0"/>
              <a:t>8/12/2026</a:t>
            </a:fld>
            <a:endParaRPr lang="en-US" dirty="0"/>
          </a:p>
        </p:txBody>
      </p:sp>
      <p:sp>
        <p:nvSpPr>
          <p:cNvPr id="5" name="Footer Placeholder 4">
            <a:extLst>
              <a:ext uri="{FF2B5EF4-FFF2-40B4-BE49-F238E27FC236}">
                <a16:creationId xmlns:a16="http://schemas.microsoft.com/office/drawing/2014/main" id="{BE75ACD5-FCFA-82D6-8193-FFD80005B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2006F7A8-7DEB-028B-37CF-3C3C5EC698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1D479F-2001-274C-9379-C1F540A42CF6}" type="slidenum">
              <a:rPr lang="en-US" smtClean="0"/>
              <a:t>‹#›</a:t>
            </a:fld>
            <a:endParaRPr lang="en-US" dirty="0"/>
          </a:p>
        </p:txBody>
      </p:sp>
    </p:spTree>
    <p:extLst>
      <p:ext uri="{BB962C8B-B14F-4D97-AF65-F5344CB8AC3E}">
        <p14:creationId xmlns:p14="http://schemas.microsoft.com/office/powerpoint/2010/main" val="2739494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ncbi.nlm.nih.gov/pmc/articles/PMC4230273/#B27" TargetMode="External"/><Relationship Id="rId2" Type="http://schemas.openxmlformats.org/officeDocument/2006/relationships/hyperlink" Target="https://www.ncbi.nlm.nih.gov/pmc/articles/PMC4230273/#B1"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7CA2-52EB-F1E0-B1A4-29C94E69A93D}"/>
              </a:ext>
            </a:extLst>
          </p:cNvPr>
          <p:cNvSpPr>
            <a:spLocks noGrp="1"/>
          </p:cNvSpPr>
          <p:nvPr>
            <p:ph type="ctrTitle"/>
          </p:nvPr>
        </p:nvSpPr>
        <p:spPr/>
        <p:txBody>
          <a:bodyPr/>
          <a:lstStyle/>
          <a:p>
            <a:r>
              <a:rPr lang="en-US" dirty="0"/>
              <a:t>A Good Mimic</a:t>
            </a:r>
          </a:p>
        </p:txBody>
      </p:sp>
      <p:sp>
        <p:nvSpPr>
          <p:cNvPr id="3" name="Subtitle 2">
            <a:extLst>
              <a:ext uri="{FF2B5EF4-FFF2-40B4-BE49-F238E27FC236}">
                <a16:creationId xmlns:a16="http://schemas.microsoft.com/office/drawing/2014/main" id="{B36E96FC-3387-6407-01D0-6C0FBC04454A}"/>
              </a:ext>
            </a:extLst>
          </p:cNvPr>
          <p:cNvSpPr>
            <a:spLocks noGrp="1"/>
          </p:cNvSpPr>
          <p:nvPr>
            <p:ph type="subTitle" idx="1"/>
          </p:nvPr>
        </p:nvSpPr>
        <p:spPr/>
        <p:txBody>
          <a:bodyPr/>
          <a:lstStyle/>
          <a:p>
            <a:r>
              <a:rPr lang="en-US" dirty="0"/>
              <a:t>A Tabletop Simulation</a:t>
            </a:r>
          </a:p>
        </p:txBody>
      </p:sp>
    </p:spTree>
    <p:extLst>
      <p:ext uri="{BB962C8B-B14F-4D97-AF65-F5344CB8AC3E}">
        <p14:creationId xmlns:p14="http://schemas.microsoft.com/office/powerpoint/2010/main" val="233757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5E434-B774-8433-C8FA-C4402B63B1A3}"/>
              </a:ext>
            </a:extLst>
          </p:cNvPr>
          <p:cNvSpPr>
            <a:spLocks noGrp="1"/>
          </p:cNvSpPr>
          <p:nvPr>
            <p:ph idx="1"/>
          </p:nvPr>
        </p:nvSpPr>
        <p:spPr>
          <a:xfrm>
            <a:off x="838200" y="1387417"/>
            <a:ext cx="10515600" cy="4083167"/>
          </a:xfrm>
        </p:spPr>
        <p:txBody>
          <a:bodyPr>
            <a:normAutofit/>
          </a:bodyPr>
          <a:lstStyle/>
          <a:p>
            <a:pPr marL="0" indent="0">
              <a:buNone/>
            </a:pPr>
            <a:r>
              <a:rPr lang="en-US" dirty="0"/>
              <a:t>You arrive on Wednesday evening for a softball game on Friday evening at 4 p.m.</a:t>
            </a:r>
          </a:p>
          <a:p>
            <a:pPr marL="0" indent="0">
              <a:buNone/>
            </a:pPr>
            <a:endParaRPr lang="en-US" dirty="0"/>
          </a:p>
          <a:p>
            <a:pPr marL="0" indent="0">
              <a:buNone/>
            </a:pPr>
            <a:r>
              <a:rPr lang="en-US" dirty="0"/>
              <a:t>During the bus ride to the hotel, you find yourself speaking to Keola, the starting pitcher.</a:t>
            </a:r>
          </a:p>
          <a:p>
            <a:pPr marL="0" indent="0">
              <a:buNone/>
            </a:pPr>
            <a:endParaRPr lang="en-US" dirty="0"/>
          </a:p>
          <a:p>
            <a:pPr marL="0" indent="0">
              <a:buNone/>
            </a:pPr>
            <a:r>
              <a:rPr lang="en-US" dirty="0"/>
              <a:t>Keola is famous on the softball team. Keola is a leader in school and very political. You heard that Keola kneels during the national anthem and plans to do so at the game in Texas.</a:t>
            </a:r>
            <a:endParaRPr lang="en-US" sz="1800" dirty="0"/>
          </a:p>
        </p:txBody>
      </p:sp>
    </p:spTree>
    <p:extLst>
      <p:ext uri="{BB962C8B-B14F-4D97-AF65-F5344CB8AC3E}">
        <p14:creationId xmlns:p14="http://schemas.microsoft.com/office/powerpoint/2010/main" val="850879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93BB97D-938A-351E-BB29-C42870AE0341}"/>
              </a:ext>
            </a:extLst>
          </p:cNvPr>
          <p:cNvSpPr>
            <a:spLocks noGrp="1"/>
          </p:cNvSpPr>
          <p:nvPr>
            <p:ph idx="1"/>
          </p:nvPr>
        </p:nvSpPr>
        <p:spPr>
          <a:xfrm>
            <a:off x="838200" y="1253331"/>
            <a:ext cx="10515600" cy="4351338"/>
          </a:xfrm>
          <a:prstGeom prst="rect">
            <a:avLst/>
          </a:prstGeom>
        </p:spPr>
        <p:txBody>
          <a:bodyPr>
            <a:normAutofit lnSpcReduction="10000"/>
          </a:bodyPr>
          <a:lstStyle/>
          <a:p>
            <a:pPr marL="0" indent="0">
              <a:buNone/>
            </a:pPr>
            <a:r>
              <a:rPr lang="en-US" sz="2800" kern="1200" dirty="0">
                <a:latin typeface="+mn-lt"/>
                <a:ea typeface="+mn-ea"/>
                <a:cs typeface="+mn-cs"/>
              </a:rPr>
              <a:t>What is your understanding of what “political</a:t>
            </a:r>
            <a:r>
              <a:rPr lang="en-US" dirty="0"/>
              <a:t>”</a:t>
            </a:r>
            <a:r>
              <a:rPr lang="en-US" sz="2800" kern="1200" dirty="0">
                <a:latin typeface="+mn-lt"/>
                <a:ea typeface="+mn-ea"/>
                <a:cs typeface="+mn-cs"/>
              </a:rPr>
              <a:t> speech is allowed for college or NCAA athletes?</a:t>
            </a:r>
          </a:p>
          <a:p>
            <a:pPr marL="0" indent="0">
              <a:buNone/>
            </a:pPr>
            <a:endParaRPr lang="en-US" sz="2800" kern="1200" dirty="0">
              <a:latin typeface="+mn-lt"/>
              <a:ea typeface="+mn-ea"/>
              <a:cs typeface="+mn-cs"/>
            </a:endParaRPr>
          </a:p>
          <a:p>
            <a:pPr marL="0" indent="0">
              <a:buNone/>
            </a:pPr>
            <a:r>
              <a:rPr lang="en-US" sz="2800" kern="1200" dirty="0">
                <a:latin typeface="+mn-lt"/>
                <a:ea typeface="+mn-ea"/>
                <a:cs typeface="+mn-cs"/>
              </a:rPr>
              <a:t>Where can we find these rules?</a:t>
            </a:r>
          </a:p>
          <a:p>
            <a:pPr marL="0" indent="0">
              <a:buNone/>
            </a:pPr>
            <a:endParaRPr lang="en-US" sz="2800" kern="1200" dirty="0">
              <a:latin typeface="+mn-lt"/>
              <a:ea typeface="+mn-ea"/>
              <a:cs typeface="+mn-cs"/>
            </a:endParaRPr>
          </a:p>
          <a:p>
            <a:pPr marL="0" indent="0">
              <a:buNone/>
            </a:pPr>
            <a:r>
              <a:rPr lang="en-US" sz="2800" kern="1200" dirty="0">
                <a:latin typeface="+mn-lt"/>
                <a:ea typeface="+mn-ea"/>
                <a:cs typeface="+mn-cs"/>
              </a:rPr>
              <a:t>Should athletes speak out on their personal beliefs, political views, or values?</a:t>
            </a:r>
          </a:p>
          <a:p>
            <a:pPr marL="0" indent="0">
              <a:buNone/>
            </a:pPr>
            <a:endParaRPr lang="en-US" sz="2800" kern="1200" dirty="0">
              <a:latin typeface="+mn-lt"/>
              <a:ea typeface="+mn-ea"/>
              <a:cs typeface="+mn-cs"/>
            </a:endParaRPr>
          </a:p>
          <a:p>
            <a:pPr marL="0" indent="0">
              <a:buNone/>
            </a:pPr>
            <a:r>
              <a:rPr lang="en-US" dirty="0"/>
              <a:t>F</a:t>
            </a:r>
            <a:r>
              <a:rPr lang="en-US" sz="2800" kern="1200" dirty="0">
                <a:latin typeface="+mn-lt"/>
                <a:ea typeface="+mn-ea"/>
                <a:cs typeface="+mn-cs"/>
              </a:rPr>
              <a:t>or whom do you (the HCP) advocate: </a:t>
            </a:r>
            <a:r>
              <a:rPr lang="en-US" dirty="0"/>
              <a:t>t</a:t>
            </a:r>
            <a:r>
              <a:rPr lang="en-US" sz="2800" kern="1200" dirty="0">
                <a:latin typeface="+mn-lt"/>
                <a:ea typeface="+mn-ea"/>
                <a:cs typeface="+mn-cs"/>
              </a:rPr>
              <a:t>he school, the NCAA, or the athlete? </a:t>
            </a:r>
          </a:p>
          <a:p>
            <a:pPr marL="0" indent="0">
              <a:buNone/>
            </a:pPr>
            <a:endParaRPr lang="en-US" sz="2800" kern="1200" dirty="0">
              <a:latin typeface="+mn-lt"/>
              <a:ea typeface="+mn-ea"/>
              <a:cs typeface="+mn-cs"/>
            </a:endParaRPr>
          </a:p>
        </p:txBody>
      </p:sp>
    </p:spTree>
    <p:extLst>
      <p:ext uri="{BB962C8B-B14F-4D97-AF65-F5344CB8AC3E}">
        <p14:creationId xmlns:p14="http://schemas.microsoft.com/office/powerpoint/2010/main" val="277234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DB9E0-DAD1-4532-C811-8DCC0D2DE4FB}"/>
              </a:ext>
            </a:extLst>
          </p:cNvPr>
          <p:cNvSpPr>
            <a:spLocks noGrp="1"/>
          </p:cNvSpPr>
          <p:nvPr>
            <p:ph idx="1"/>
          </p:nvPr>
        </p:nvSpPr>
        <p:spPr>
          <a:xfrm>
            <a:off x="838200" y="626666"/>
            <a:ext cx="10515600" cy="5604669"/>
          </a:xfrm>
        </p:spPr>
        <p:txBody>
          <a:bodyPr>
            <a:noAutofit/>
          </a:bodyPr>
          <a:lstStyle/>
          <a:p>
            <a:pPr marL="0" indent="0">
              <a:lnSpc>
                <a:spcPct val="100000"/>
              </a:lnSpc>
              <a:buNone/>
            </a:pPr>
            <a:r>
              <a:rPr lang="en-US" dirty="0"/>
              <a:t>You ask Keola about kneeling and she responds,</a:t>
            </a:r>
          </a:p>
          <a:p>
            <a:pPr marL="0" indent="0">
              <a:lnSpc>
                <a:spcPct val="100000"/>
              </a:lnSpc>
              <a:buNone/>
            </a:pPr>
            <a:r>
              <a:rPr lang="en-US" dirty="0"/>
              <a:t>“I am glad you asked. It is an enormous topic. You basically asked me how being Black Polynesian in America affects my life. Many things that I experience are because of my skin color, and that is why I kneel. Since its beginnings, America has excluded people of color in many ways, and I kneel because I believe the facts show there is one America for people of color and one for those who are not. Kneeling represents those two Americas.”</a:t>
            </a:r>
          </a:p>
          <a:p>
            <a:pPr marL="0" indent="0">
              <a:lnSpc>
                <a:spcPct val="100000"/>
              </a:lnSpc>
              <a:buNone/>
            </a:pPr>
            <a:endParaRPr lang="en-US" dirty="0"/>
          </a:p>
          <a:p>
            <a:pPr marL="0" indent="0">
              <a:lnSpc>
                <a:spcPct val="100000"/>
              </a:lnSpc>
              <a:buNone/>
            </a:pPr>
            <a:r>
              <a:rPr lang="en-US" dirty="0"/>
              <a:t>She then adds, </a:t>
            </a:r>
          </a:p>
          <a:p>
            <a:pPr marL="0" indent="0">
              <a:lnSpc>
                <a:spcPct val="100000"/>
              </a:lnSpc>
              <a:buNone/>
            </a:pPr>
            <a:r>
              <a:rPr lang="en-US" dirty="0"/>
              <a:t>“The NCAA has problems too. The NCAA controls so many opportunities in our lives.” </a:t>
            </a:r>
          </a:p>
        </p:txBody>
      </p:sp>
    </p:spTree>
    <p:extLst>
      <p:ext uri="{BB962C8B-B14F-4D97-AF65-F5344CB8AC3E}">
        <p14:creationId xmlns:p14="http://schemas.microsoft.com/office/powerpoint/2010/main" val="3941551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949659-3A4F-FA12-B4EE-1CB64F485B03}"/>
              </a:ext>
            </a:extLst>
          </p:cNvPr>
          <p:cNvSpPr>
            <a:spLocks noGrp="1"/>
          </p:cNvSpPr>
          <p:nvPr>
            <p:ph idx="1"/>
          </p:nvPr>
        </p:nvSpPr>
        <p:spPr>
          <a:xfrm>
            <a:off x="838200" y="1253331"/>
            <a:ext cx="10515600" cy="4351338"/>
          </a:xfrm>
        </p:spPr>
        <p:txBody>
          <a:bodyPr>
            <a:normAutofit/>
          </a:bodyPr>
          <a:lstStyle/>
          <a:p>
            <a:pPr marL="0" indent="0">
              <a:buNone/>
            </a:pPr>
            <a:r>
              <a:rPr lang="en-US" dirty="0"/>
              <a:t>What do you think about her perspective? Can you relate or not?</a:t>
            </a:r>
          </a:p>
          <a:p>
            <a:pPr marL="0" indent="0">
              <a:buNone/>
            </a:pPr>
            <a:endParaRPr lang="en-US" dirty="0"/>
          </a:p>
          <a:p>
            <a:pPr marL="0" indent="0">
              <a:buNone/>
            </a:pPr>
            <a:r>
              <a:rPr lang="en-US" dirty="0"/>
              <a:t>What is your understanding of why some athletes kneel during the national anthem, or why would you choose to kneel or not kneel? </a:t>
            </a:r>
          </a:p>
          <a:p>
            <a:pPr marL="0" indent="0">
              <a:buNone/>
            </a:pPr>
            <a:r>
              <a:rPr lang="en-US" dirty="0"/>
              <a:t> </a:t>
            </a:r>
          </a:p>
          <a:p>
            <a:pPr marL="0" indent="0">
              <a:buNone/>
            </a:pPr>
            <a:r>
              <a:rPr lang="en-US" dirty="0"/>
              <a:t>What is the rule for your institution and kneeling? </a:t>
            </a:r>
          </a:p>
          <a:p>
            <a:pPr marL="0" indent="0">
              <a:buNone/>
            </a:pPr>
            <a:endParaRPr lang="en-US" dirty="0"/>
          </a:p>
          <a:p>
            <a:pPr marL="0" indent="0">
              <a:buNone/>
            </a:pPr>
            <a:r>
              <a:rPr lang="en-US" dirty="0"/>
              <a:t>What do you know about how the NCAA operates or how it is involved with the lives of athletes and how much it controls?</a:t>
            </a:r>
          </a:p>
        </p:txBody>
      </p:sp>
    </p:spTree>
    <p:extLst>
      <p:ext uri="{BB962C8B-B14F-4D97-AF65-F5344CB8AC3E}">
        <p14:creationId xmlns:p14="http://schemas.microsoft.com/office/powerpoint/2010/main" val="2280273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4821-3C44-8890-728C-58B34B90A4A8}"/>
              </a:ext>
            </a:extLst>
          </p:cNvPr>
          <p:cNvSpPr>
            <a:spLocks noGrp="1"/>
          </p:cNvSpPr>
          <p:nvPr>
            <p:ph type="title"/>
          </p:nvPr>
        </p:nvSpPr>
        <p:spPr/>
        <p:txBody>
          <a:bodyPr/>
          <a:lstStyle/>
          <a:p>
            <a:pPr algn="ctr"/>
            <a:r>
              <a:rPr lang="en-US" dirty="0">
                <a:cs typeface="Times New Roman" panose="02020603050405020304" pitchFamily="18" charset="0"/>
              </a:rPr>
              <a:t>The Next Morning: Thursday</a:t>
            </a:r>
            <a:br>
              <a:rPr lang="en-US" dirty="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764A608-43D5-E79F-1445-D7927D38D4BE}"/>
              </a:ext>
            </a:extLst>
          </p:cNvPr>
          <p:cNvSpPr>
            <a:spLocks noGrp="1"/>
          </p:cNvSpPr>
          <p:nvPr>
            <p:ph idx="1"/>
          </p:nvPr>
        </p:nvSpPr>
        <p:spPr/>
        <p:txBody>
          <a:bodyPr/>
          <a:lstStyle/>
          <a:p>
            <a:pPr marL="0" indent="0">
              <a:spcBef>
                <a:spcPct val="0"/>
              </a:spcBef>
              <a:spcAft>
                <a:spcPts val="600"/>
              </a:spcAft>
              <a:buNone/>
            </a:pPr>
            <a:r>
              <a:rPr lang="en-US" dirty="0">
                <a:cs typeface="Times New Roman" panose="02020603050405020304" pitchFamily="18" charset="0"/>
              </a:rPr>
              <a:t>10:00 a.m.—Day before game, practice day. It is warm, 70 °F (21 °C), early spring, 2,000 feet above sea level, and humidity is 48 percent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79009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39FA755-D8E8-6DE3-17B3-D10C28FB09C4}"/>
              </a:ext>
            </a:extLst>
          </p:cNvPr>
          <p:cNvSpPr>
            <a:spLocks noGrp="1"/>
          </p:cNvSpPr>
          <p:nvPr>
            <p:ph idx="1"/>
          </p:nvPr>
        </p:nvSpPr>
        <p:spPr>
          <a:xfrm>
            <a:off x="838200" y="1949549"/>
            <a:ext cx="10515600" cy="2958903"/>
          </a:xfrm>
        </p:spPr>
        <p:txBody>
          <a:bodyPr>
            <a:normAutofit/>
          </a:bodyPr>
          <a:lstStyle/>
          <a:p>
            <a:pPr marL="0" indent="0">
              <a:buNone/>
            </a:pPr>
            <a:r>
              <a:rPr lang="en-US" dirty="0"/>
              <a:t>T</a:t>
            </a:r>
            <a:r>
              <a:rPr lang="en-US" sz="2800" dirty="0"/>
              <a:t>he head AT comes to you and says,</a:t>
            </a:r>
          </a:p>
          <a:p>
            <a:pPr marL="0" indent="0">
              <a:buNone/>
            </a:pPr>
            <a:r>
              <a:rPr lang="en-US" sz="2800" dirty="0"/>
              <a:t>“Keola is complaining of ankle pain. </a:t>
            </a:r>
            <a:r>
              <a:rPr lang="en-US" dirty="0"/>
              <a:t>Go </a:t>
            </a:r>
            <a:r>
              <a:rPr lang="en-US" sz="2800" dirty="0"/>
              <a:t>check it out. I heard that Keola is upset because of the recent politics and may not want to play. I think she is going to kneel during the national anthem. This may not go well here. So, just let me know if </a:t>
            </a:r>
            <a:r>
              <a:rPr lang="en-US" dirty="0"/>
              <a:t>the ankle pain</a:t>
            </a:r>
            <a:r>
              <a:rPr lang="en-US" sz="2800" dirty="0"/>
              <a:t> is real or if you think it is a political move. Not playing in the game could be some sort of protest.”</a:t>
            </a:r>
          </a:p>
        </p:txBody>
      </p:sp>
    </p:spTree>
    <p:extLst>
      <p:ext uri="{BB962C8B-B14F-4D97-AF65-F5344CB8AC3E}">
        <p14:creationId xmlns:p14="http://schemas.microsoft.com/office/powerpoint/2010/main" val="26111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FD6979-3BC0-EDB6-2D2C-26BFEF4A646B}"/>
              </a:ext>
            </a:extLst>
          </p:cNvPr>
          <p:cNvSpPr>
            <a:spLocks noGrp="1"/>
          </p:cNvSpPr>
          <p:nvPr>
            <p:ph idx="1"/>
          </p:nvPr>
        </p:nvSpPr>
        <p:spPr>
          <a:xfrm>
            <a:off x="838200" y="2144420"/>
            <a:ext cx="10515600" cy="2569161"/>
          </a:xfrm>
        </p:spPr>
        <p:txBody>
          <a:bodyPr/>
          <a:lstStyle/>
          <a:p>
            <a:pPr marL="0" marR="0" indent="0">
              <a:spcBef>
                <a:spcPts val="0"/>
              </a:spcBef>
              <a:spcAft>
                <a:spcPts val="0"/>
              </a:spcAft>
              <a:buNone/>
            </a:pPr>
            <a:r>
              <a:rPr lang="en-US" kern="100" dirty="0">
                <a:cs typeface="Times New Roman" panose="02020603050405020304" pitchFamily="18" charset="0"/>
              </a:rPr>
              <a:t>Tell me about the request from the head AT and tell me what you think you should do?</a:t>
            </a:r>
          </a:p>
          <a:p>
            <a:pPr marL="0" marR="0" indent="0">
              <a:spcBef>
                <a:spcPts val="0"/>
              </a:spcBef>
              <a:spcAft>
                <a:spcPts val="0"/>
              </a:spcAft>
              <a:buNone/>
            </a:pPr>
            <a:endParaRPr lang="en-US" kern="100" dirty="0">
              <a:cs typeface="Times New Roman" panose="02020603050405020304" pitchFamily="18" charset="0"/>
            </a:endParaRPr>
          </a:p>
          <a:p>
            <a:pPr marL="0" marR="0" indent="0">
              <a:spcBef>
                <a:spcPts val="0"/>
              </a:spcBef>
              <a:spcAft>
                <a:spcPts val="0"/>
              </a:spcAft>
              <a:buNone/>
            </a:pPr>
            <a:r>
              <a:rPr lang="en-US" kern="100" dirty="0">
                <a:cs typeface="Times New Roman" panose="02020603050405020304" pitchFamily="18" charset="0"/>
              </a:rPr>
              <a:t>How does this request make you feel?</a:t>
            </a:r>
          </a:p>
          <a:p>
            <a:pPr marL="0" marR="0" indent="0">
              <a:spcBef>
                <a:spcPts val="0"/>
              </a:spcBef>
              <a:spcAft>
                <a:spcPts val="0"/>
              </a:spcAft>
              <a:buNone/>
            </a:pPr>
            <a:endParaRPr lang="en-US" kern="100" dirty="0">
              <a:cs typeface="Times New Roman" panose="02020603050405020304" pitchFamily="18" charset="0"/>
            </a:endParaRPr>
          </a:p>
          <a:p>
            <a:pPr marL="0" marR="0" indent="0">
              <a:spcBef>
                <a:spcPts val="0"/>
              </a:spcBef>
              <a:spcAft>
                <a:spcPts val="0"/>
              </a:spcAft>
              <a:buNone/>
            </a:pPr>
            <a:r>
              <a:rPr lang="en-US" kern="100" dirty="0">
                <a:cs typeface="Times New Roman" panose="02020603050405020304" pitchFamily="18" charset="0"/>
              </a:rPr>
              <a:t>What is your job?</a:t>
            </a:r>
          </a:p>
          <a:p>
            <a:pPr marL="0" indent="0">
              <a:buNone/>
            </a:pPr>
            <a:endParaRPr lang="en-US" dirty="0"/>
          </a:p>
        </p:txBody>
      </p:sp>
    </p:spTree>
    <p:extLst>
      <p:ext uri="{BB962C8B-B14F-4D97-AF65-F5344CB8AC3E}">
        <p14:creationId xmlns:p14="http://schemas.microsoft.com/office/powerpoint/2010/main" val="728407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7118953-8EC1-F428-4DC8-811D3D152DE4}"/>
              </a:ext>
            </a:extLst>
          </p:cNvPr>
          <p:cNvSpPr txBox="1">
            <a:spLocks/>
          </p:cNvSpPr>
          <p:nvPr/>
        </p:nvSpPr>
        <p:spPr>
          <a:xfrm>
            <a:off x="1332755" y="4628812"/>
            <a:ext cx="4115167" cy="1960376"/>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8096">
              <a:spcBef>
                <a:spcPct val="0"/>
              </a:spcBef>
              <a:spcAft>
                <a:spcPts val="504"/>
              </a:spcAft>
              <a:buNone/>
            </a:pPr>
            <a:r>
              <a:rPr lang="en-US" sz="2600" kern="1200" dirty="0">
                <a:latin typeface="+mj-lt"/>
                <a:ea typeface="+mj-ea"/>
                <a:cs typeface="+mj-cs"/>
              </a:rPr>
              <a:t>One of you is a </a:t>
            </a:r>
            <a:r>
              <a:rPr lang="en-US" sz="2600" b="1" kern="1200" dirty="0">
                <a:solidFill>
                  <a:schemeClr val="accent6">
                    <a:lumMod val="75000"/>
                  </a:schemeClr>
                </a:solidFill>
                <a:latin typeface="+mj-lt"/>
                <a:ea typeface="+mj-ea"/>
                <a:cs typeface="+mj-cs"/>
              </a:rPr>
              <a:t>PATIENT</a:t>
            </a:r>
            <a:endParaRPr lang="en-US" sz="2600" b="1" dirty="0">
              <a:solidFill>
                <a:schemeClr val="accent6">
                  <a:lumMod val="75000"/>
                </a:schemeClr>
              </a:solidFill>
              <a:latin typeface="+mj-lt"/>
              <a:ea typeface="+mj-ea"/>
              <a:cs typeface="+mj-cs"/>
            </a:endParaRPr>
          </a:p>
          <a:p>
            <a:pPr marL="0" indent="0" defTabSz="768096">
              <a:spcBef>
                <a:spcPct val="0"/>
              </a:spcBef>
              <a:spcAft>
                <a:spcPts val="504"/>
              </a:spcAft>
              <a:buNone/>
            </a:pPr>
            <a:r>
              <a:rPr lang="en-US" sz="2600" dirty="0">
                <a:latin typeface="+mj-lt"/>
                <a:ea typeface="+mj-ea"/>
                <a:cs typeface="+mj-cs"/>
              </a:rPr>
              <a:t>P</a:t>
            </a:r>
            <a:r>
              <a:rPr lang="en-US" sz="2600" kern="1200" dirty="0">
                <a:latin typeface="+mj-lt"/>
                <a:ea typeface="+mj-ea"/>
                <a:cs typeface="+mj-cs"/>
              </a:rPr>
              <a:t>lease come get a note card.</a:t>
            </a:r>
          </a:p>
          <a:p>
            <a:pPr marL="0" indent="0" defTabSz="768096">
              <a:spcBef>
                <a:spcPct val="0"/>
              </a:spcBef>
              <a:spcAft>
                <a:spcPts val="504"/>
              </a:spcAft>
              <a:buNone/>
            </a:pPr>
            <a:r>
              <a:rPr lang="en-US" sz="2600" dirty="0">
                <a:latin typeface="+mj-lt"/>
                <a:ea typeface="+mj-ea"/>
                <a:cs typeface="+mj-cs"/>
              </a:rPr>
              <a:t>D</a:t>
            </a:r>
            <a:r>
              <a:rPr lang="en-US" sz="2600" kern="1200" dirty="0">
                <a:latin typeface="+mj-lt"/>
                <a:ea typeface="+mj-ea"/>
                <a:cs typeface="+mj-cs"/>
              </a:rPr>
              <a:t>o not provide patient information that is not requested.</a:t>
            </a:r>
            <a:endParaRPr lang="en-US" sz="2600" dirty="0">
              <a:latin typeface="+mj-lt"/>
              <a:ea typeface="+mj-ea"/>
              <a:cs typeface="+mj-cs"/>
            </a:endParaRPr>
          </a:p>
        </p:txBody>
      </p:sp>
      <p:sp>
        <p:nvSpPr>
          <p:cNvPr id="2" name="TextBox 1">
            <a:extLst>
              <a:ext uri="{FF2B5EF4-FFF2-40B4-BE49-F238E27FC236}">
                <a16:creationId xmlns:a16="http://schemas.microsoft.com/office/drawing/2014/main" id="{8163C5E6-F771-6F6A-3A8A-1DB254C3899A}"/>
              </a:ext>
            </a:extLst>
          </p:cNvPr>
          <p:cNvSpPr txBox="1"/>
          <p:nvPr/>
        </p:nvSpPr>
        <p:spPr>
          <a:xfrm>
            <a:off x="1583966" y="343102"/>
            <a:ext cx="9306058" cy="523220"/>
          </a:xfrm>
          <a:prstGeom prst="rect">
            <a:avLst/>
          </a:prstGeom>
          <a:noFill/>
        </p:spPr>
        <p:txBody>
          <a:bodyPr wrap="square" rtlCol="0">
            <a:spAutoFit/>
          </a:bodyPr>
          <a:lstStyle/>
          <a:p>
            <a:pPr algn="ctr"/>
            <a:r>
              <a:rPr lang="en-US" sz="2800" dirty="0"/>
              <a:t>Divide into pairs.</a:t>
            </a:r>
          </a:p>
        </p:txBody>
      </p:sp>
      <p:sp>
        <p:nvSpPr>
          <p:cNvPr id="14" name="TextBox 13">
            <a:extLst>
              <a:ext uri="{FF2B5EF4-FFF2-40B4-BE49-F238E27FC236}">
                <a16:creationId xmlns:a16="http://schemas.microsoft.com/office/drawing/2014/main" id="{FA51A035-7624-4D86-C76C-2E1CC345E542}"/>
              </a:ext>
            </a:extLst>
          </p:cNvPr>
          <p:cNvSpPr txBox="1"/>
          <p:nvPr/>
        </p:nvSpPr>
        <p:spPr>
          <a:xfrm>
            <a:off x="7161619" y="4628812"/>
            <a:ext cx="3728405" cy="2492990"/>
          </a:xfrm>
          <a:prstGeom prst="rect">
            <a:avLst/>
          </a:prstGeom>
          <a:noFill/>
        </p:spPr>
        <p:txBody>
          <a:bodyPr wrap="square">
            <a:spAutoFit/>
          </a:bodyPr>
          <a:lstStyle/>
          <a:p>
            <a:pPr marL="0" indent="0" defTabSz="768096">
              <a:spcBef>
                <a:spcPct val="0"/>
              </a:spcBef>
              <a:spcAft>
                <a:spcPts val="504"/>
              </a:spcAft>
              <a:buNone/>
            </a:pPr>
            <a:r>
              <a:rPr lang="en-US" sz="2600" dirty="0">
                <a:latin typeface="+mj-lt"/>
                <a:ea typeface="+mj-ea"/>
                <a:cs typeface="+mj-cs"/>
              </a:rPr>
              <a:t>One of you is a </a:t>
            </a:r>
            <a:r>
              <a:rPr lang="en-US" sz="2600" b="1" dirty="0">
                <a:solidFill>
                  <a:schemeClr val="accent2">
                    <a:lumMod val="75000"/>
                  </a:schemeClr>
                </a:solidFill>
                <a:latin typeface="+mj-lt"/>
                <a:ea typeface="+mj-ea"/>
                <a:cs typeface="+mj-cs"/>
              </a:rPr>
              <a:t>PROVIDER</a:t>
            </a:r>
            <a:r>
              <a:rPr lang="en-US" sz="2600" dirty="0">
                <a:latin typeface="+mj-lt"/>
                <a:ea typeface="+mj-ea"/>
                <a:cs typeface="+mj-cs"/>
              </a:rPr>
              <a:t>, you will have up to seven minutes to perform an evaluation. </a:t>
            </a:r>
            <a:endParaRPr lang="en-US" sz="2600" b="1" dirty="0">
              <a:solidFill>
                <a:schemeClr val="accent2">
                  <a:lumMod val="75000"/>
                </a:schemeClr>
              </a:solidFill>
              <a:latin typeface="+mj-lt"/>
              <a:ea typeface="+mj-ea"/>
              <a:cs typeface="+mj-cs"/>
            </a:endParaRPr>
          </a:p>
        </p:txBody>
      </p:sp>
      <p:sp>
        <p:nvSpPr>
          <p:cNvPr id="15" name="TextBox 14">
            <a:extLst>
              <a:ext uri="{FF2B5EF4-FFF2-40B4-BE49-F238E27FC236}">
                <a16:creationId xmlns:a16="http://schemas.microsoft.com/office/drawing/2014/main" id="{73D33564-0634-BAD1-782D-16E0D52C79C5}"/>
              </a:ext>
            </a:extLst>
          </p:cNvPr>
          <p:cNvSpPr txBox="1"/>
          <p:nvPr/>
        </p:nvSpPr>
        <p:spPr>
          <a:xfrm>
            <a:off x="1186397" y="939700"/>
            <a:ext cx="10101197" cy="523220"/>
          </a:xfrm>
          <a:prstGeom prst="rect">
            <a:avLst/>
          </a:prstGeom>
          <a:noFill/>
        </p:spPr>
        <p:txBody>
          <a:bodyPr wrap="square" rtlCol="0">
            <a:spAutoFit/>
          </a:bodyPr>
          <a:lstStyle/>
          <a:p>
            <a:r>
              <a:rPr lang="en-US" sz="2800" dirty="0"/>
              <a:t>DO NOT START. YOU WILL START AFTER I GO TO THE NEXT SLIDE</a:t>
            </a:r>
            <a:r>
              <a:rPr lang="en-US" sz="2600" dirty="0"/>
              <a:t>.</a:t>
            </a:r>
            <a:endParaRPr lang="en-US" dirty="0"/>
          </a:p>
        </p:txBody>
      </p:sp>
      <p:pic>
        <p:nvPicPr>
          <p:cNvPr id="6" name="Picture 5">
            <a:extLst>
              <a:ext uri="{FF2B5EF4-FFF2-40B4-BE49-F238E27FC236}">
                <a16:creationId xmlns:a16="http://schemas.microsoft.com/office/drawing/2014/main" id="{484D92A9-19E0-23A6-4CCD-55A7898A78EE}"/>
              </a:ext>
            </a:extLst>
          </p:cNvPr>
          <p:cNvPicPr>
            <a:picLocks noChangeAspect="1"/>
          </p:cNvPicPr>
          <p:nvPr/>
        </p:nvPicPr>
        <p:blipFill>
          <a:blip r:embed="rId3"/>
          <a:stretch>
            <a:fillRect/>
          </a:stretch>
        </p:blipFill>
        <p:spPr>
          <a:xfrm>
            <a:off x="3134954" y="1577484"/>
            <a:ext cx="5996066" cy="2940277"/>
          </a:xfrm>
          <a:prstGeom prst="rect">
            <a:avLst/>
          </a:prstGeom>
        </p:spPr>
      </p:pic>
    </p:spTree>
    <p:extLst>
      <p:ext uri="{BB962C8B-B14F-4D97-AF65-F5344CB8AC3E}">
        <p14:creationId xmlns:p14="http://schemas.microsoft.com/office/powerpoint/2010/main" val="2790715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EC5284-7C4B-76D3-7F03-2C5AC9C9AD6C}"/>
              </a:ext>
            </a:extLst>
          </p:cNvPr>
          <p:cNvSpPr>
            <a:spLocks noGrp="1"/>
          </p:cNvSpPr>
          <p:nvPr>
            <p:ph idx="1"/>
          </p:nvPr>
        </p:nvSpPr>
        <p:spPr>
          <a:xfrm>
            <a:off x="838200" y="1424892"/>
            <a:ext cx="10515600" cy="4008217"/>
          </a:xfrm>
        </p:spPr>
        <p:txBody>
          <a:bodyPr>
            <a:normAutofit lnSpcReduction="10000"/>
          </a:bodyPr>
          <a:lstStyle/>
          <a:p>
            <a:pPr marL="0" indent="0">
              <a:spcBef>
                <a:spcPts val="0"/>
              </a:spcBef>
              <a:buNone/>
            </a:pPr>
            <a:r>
              <a:rPr lang="en-US"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kern="100" dirty="0">
                <a:latin typeface="Calibri" panose="020F0502020204030204" pitchFamily="34" charset="0"/>
                <a:ea typeface="Calibri" panose="020F0502020204030204" pitchFamily="34" charset="0"/>
                <a:cs typeface="Times New Roman" panose="02020603050405020304" pitchFamily="18" charset="0"/>
              </a:rPr>
              <a:t>I will keep two different pictures of the same injury at the same state of development but with three different skin tones on the screen. Evaluate the person in front of you (your peer) with these pictures in mind. The patient will use the note card for patient information.</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0000"/>
              </a:lnSpc>
              <a:spcBef>
                <a:spcPts val="0"/>
              </a:spcBef>
              <a:buNone/>
              <a:defRPr/>
            </a:pPr>
            <a:r>
              <a:rPr lang="en-US"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 card. Please read through the note card right here and ask me if you have any questions. Then, go to your partner and treatment table. </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838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5FC597BC-D852-3620-BB35-E820F37DF801}"/>
              </a:ext>
            </a:extLst>
          </p:cNvPr>
          <p:cNvSpPr>
            <a:spLocks noGrp="1"/>
          </p:cNvSpPr>
          <p:nvPr>
            <p:ph type="title"/>
          </p:nvPr>
        </p:nvSpPr>
        <p:spPr/>
        <p:txBody>
          <a:bodyPr>
            <a:normAutofit/>
          </a:bodyPr>
          <a:lstStyle/>
          <a:p>
            <a:pPr algn="ctr"/>
            <a:r>
              <a:rPr lang="en-US" sz="2800" dirty="0">
                <a:latin typeface="+mn-lt"/>
              </a:rPr>
              <a:t>You have seven minutes for evaluation</a:t>
            </a:r>
          </a:p>
        </p:txBody>
      </p:sp>
      <p:pic>
        <p:nvPicPr>
          <p:cNvPr id="29" name="Content Placeholder 28">
            <a:extLst>
              <a:ext uri="{FF2B5EF4-FFF2-40B4-BE49-F238E27FC236}">
                <a16:creationId xmlns:a16="http://schemas.microsoft.com/office/drawing/2014/main" id="{F5BB9815-9BDE-EB6F-62E8-FB43C2AFB5D1}"/>
              </a:ext>
            </a:extLst>
          </p:cNvPr>
          <p:cNvPicPr>
            <a:picLocks noGrp="1" noChangeAspect="1"/>
          </p:cNvPicPr>
          <p:nvPr>
            <p:ph idx="1"/>
          </p:nvPr>
        </p:nvPicPr>
        <p:blipFill>
          <a:blip r:embed="rId3"/>
          <a:srcRect/>
          <a:stretch/>
        </p:blipFill>
        <p:spPr>
          <a:xfrm>
            <a:off x="1599617" y="1825625"/>
            <a:ext cx="8992765" cy="4351338"/>
          </a:xfrm>
          <a:prstGeom prst="rect">
            <a:avLst/>
          </a:prstGeom>
        </p:spPr>
      </p:pic>
    </p:spTree>
    <p:extLst>
      <p:ext uri="{BB962C8B-B14F-4D97-AF65-F5344CB8AC3E}">
        <p14:creationId xmlns:p14="http://schemas.microsoft.com/office/powerpoint/2010/main" val="4033082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2E9C9A-82F6-3BA1-699C-DEC2E681E42B}"/>
              </a:ext>
            </a:extLst>
          </p:cNvPr>
          <p:cNvSpPr>
            <a:spLocks noGrp="1"/>
          </p:cNvSpPr>
          <p:nvPr>
            <p:ph idx="1"/>
          </p:nvPr>
        </p:nvSpPr>
        <p:spPr>
          <a:xfrm>
            <a:off x="838200" y="2594125"/>
            <a:ext cx="10515600" cy="1669751"/>
          </a:xfrm>
        </p:spPr>
        <p:txBody>
          <a:bodyPr/>
          <a:lstStyle/>
          <a:p>
            <a:pPr marL="0" indent="0">
              <a:buNone/>
            </a:pPr>
            <a:r>
              <a:rPr lang="en-US" dirty="0"/>
              <a:t>After you complete the assessment and decide to tape her ankle, Keola hands you some rainbow tape and says, “What do you know about discrimination in athletics? You can tell me while you tape my ankle. It</a:t>
            </a:r>
            <a:r>
              <a:rPr lang="en-US" dirty="0">
                <a:ea typeface="Times New Roman" panose="02020603050405020304" pitchFamily="18" charset="0"/>
              </a:rPr>
              <a:t> hurts a little, but I want to move it around a bit.”</a:t>
            </a:r>
            <a:endParaRPr lang="en-US" dirty="0"/>
          </a:p>
        </p:txBody>
      </p:sp>
    </p:spTree>
    <p:extLst>
      <p:ext uri="{BB962C8B-B14F-4D97-AF65-F5344CB8AC3E}">
        <p14:creationId xmlns:p14="http://schemas.microsoft.com/office/powerpoint/2010/main" val="46549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A5B28-2608-4444-CBB4-3A7E9A7D402E}"/>
              </a:ext>
            </a:extLst>
          </p:cNvPr>
          <p:cNvSpPr>
            <a:spLocks noGrp="1"/>
          </p:cNvSpPr>
          <p:nvPr>
            <p:ph idx="1"/>
          </p:nvPr>
        </p:nvSpPr>
        <p:spPr>
          <a:xfrm>
            <a:off x="838200" y="2766512"/>
            <a:ext cx="10515600" cy="1324977"/>
          </a:xfrm>
        </p:spPr>
        <p:txBody>
          <a:bodyPr/>
          <a:lstStyle/>
          <a:p>
            <a:pPr marL="0" indent="0">
              <a:buNone/>
            </a:pPr>
            <a:r>
              <a:rPr lang="en-US" dirty="0"/>
              <a:t>Keola has her opinions on race, gender, and the treatment of athletes in college sports. Do you have any perspectives or opinions on race, gender, or the treatment of athletes in college sports? </a:t>
            </a:r>
          </a:p>
          <a:p>
            <a:pPr marL="0" indent="0">
              <a:buNone/>
            </a:pPr>
            <a:endParaRPr lang="en-US" dirty="0"/>
          </a:p>
        </p:txBody>
      </p:sp>
    </p:spTree>
    <p:extLst>
      <p:ext uri="{BB962C8B-B14F-4D97-AF65-F5344CB8AC3E}">
        <p14:creationId xmlns:p14="http://schemas.microsoft.com/office/powerpoint/2010/main" val="3952898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86604-550E-F24D-9570-024B58E585FE}"/>
              </a:ext>
            </a:extLst>
          </p:cNvPr>
          <p:cNvSpPr>
            <a:spLocks noGrp="1"/>
          </p:cNvSpPr>
          <p:nvPr>
            <p:ph idx="1"/>
          </p:nvPr>
        </p:nvSpPr>
        <p:spPr>
          <a:xfrm>
            <a:off x="838200" y="1253331"/>
            <a:ext cx="10515600" cy="4351338"/>
          </a:xfrm>
        </p:spPr>
        <p:txBody>
          <a:bodyPr>
            <a:normAutofit lnSpcReduction="10000"/>
          </a:bodyPr>
          <a:lstStyle/>
          <a:p>
            <a:pPr marL="0" indent="0">
              <a:buNone/>
            </a:pPr>
            <a:r>
              <a:rPr lang="en-US" dirty="0"/>
              <a:t>You have taped her ankle, suggest ibuprofen 600 milligrams, some ice, elevation, and rest.</a:t>
            </a:r>
          </a:p>
          <a:p>
            <a:pPr marL="0" indent="0">
              <a:buNone/>
            </a:pPr>
            <a:endParaRPr lang="en-US" dirty="0"/>
          </a:p>
          <a:p>
            <a:pPr marL="0" indent="0">
              <a:buNone/>
            </a:pPr>
            <a:r>
              <a:rPr lang="en-US" dirty="0"/>
              <a:t>You have suggested medications to Keola and she has some medication history.</a:t>
            </a:r>
          </a:p>
          <a:p>
            <a:pPr marL="0" indent="0">
              <a:buNone/>
            </a:pPr>
            <a:endParaRPr lang="en-US" dirty="0"/>
          </a:p>
          <a:p>
            <a:pPr marL="0" indent="0">
              <a:buNone/>
            </a:pPr>
            <a:r>
              <a:rPr lang="en-US" dirty="0"/>
              <a:t>What are Keola’s medications?</a:t>
            </a:r>
          </a:p>
          <a:p>
            <a:pPr marL="0" indent="0">
              <a:buNone/>
            </a:pPr>
            <a:r>
              <a:rPr lang="en-US" dirty="0"/>
              <a:t>What about ibuprofen, good? Problems?</a:t>
            </a:r>
          </a:p>
          <a:p>
            <a:pPr marL="0" indent="0">
              <a:buNone/>
            </a:pPr>
            <a:r>
              <a:rPr lang="en-US" dirty="0"/>
              <a:t>Any other medications that concern you or you have questions about? </a:t>
            </a:r>
          </a:p>
        </p:txBody>
      </p:sp>
    </p:spTree>
    <p:extLst>
      <p:ext uri="{BB962C8B-B14F-4D97-AF65-F5344CB8AC3E}">
        <p14:creationId xmlns:p14="http://schemas.microsoft.com/office/powerpoint/2010/main" val="1378598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F98290-929C-E5E6-34F1-0B85E14E1D9B}"/>
              </a:ext>
            </a:extLst>
          </p:cNvPr>
          <p:cNvSpPr>
            <a:spLocks noGrp="1"/>
          </p:cNvSpPr>
          <p:nvPr>
            <p:ph idx="1"/>
          </p:nvPr>
        </p:nvSpPr>
        <p:spPr>
          <a:xfrm>
            <a:off x="838200" y="2468042"/>
            <a:ext cx="10515600" cy="1921916"/>
          </a:xfrm>
        </p:spPr>
        <p:txBody>
          <a:bodyPr/>
          <a:lstStyle/>
          <a:p>
            <a:pPr marL="0" indent="0">
              <a:buNone/>
            </a:pPr>
            <a:r>
              <a:rPr lang="en-US" dirty="0"/>
              <a:t>It is now 4:00 p.m. on Thursday with practice starting at 5:00 p.m. </a:t>
            </a:r>
          </a:p>
          <a:p>
            <a:endParaRPr lang="en-US" dirty="0"/>
          </a:p>
          <a:p>
            <a:pPr marL="0" indent="0">
              <a:buNone/>
            </a:pPr>
            <a:r>
              <a:rPr lang="en-US" dirty="0"/>
              <a:t>Keola returns, “I don’t know what it is, but I don’t think it is just an ankle injury.” The swelling and pain have definitely gotten worse.</a:t>
            </a:r>
          </a:p>
          <a:p>
            <a:endParaRPr lang="en-US" dirty="0"/>
          </a:p>
        </p:txBody>
      </p:sp>
    </p:spTree>
    <p:extLst>
      <p:ext uri="{BB962C8B-B14F-4D97-AF65-F5344CB8AC3E}">
        <p14:creationId xmlns:p14="http://schemas.microsoft.com/office/powerpoint/2010/main" val="1722889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09EE23-309C-2AF2-753D-A64CAEBA53C2}"/>
              </a:ext>
            </a:extLst>
          </p:cNvPr>
          <p:cNvSpPr txBox="1"/>
          <p:nvPr/>
        </p:nvSpPr>
        <p:spPr>
          <a:xfrm>
            <a:off x="1123013" y="411342"/>
            <a:ext cx="9945974" cy="1192606"/>
          </a:xfrm>
          <a:prstGeom prst="rect">
            <a:avLst/>
          </a:prstGeom>
        </p:spPr>
        <p:txBody>
          <a:bodyPr vert="horz" lIns="91440" tIns="45720" rIns="91440" bIns="45720" rtlCol="0" anchor="t">
            <a:noAutofit/>
          </a:bodyPr>
          <a:lstStyle/>
          <a:p>
            <a:pPr algn="ctr">
              <a:lnSpc>
                <a:spcPct val="90000"/>
              </a:lnSpc>
              <a:spcBef>
                <a:spcPts val="1000"/>
              </a:spcBef>
            </a:pPr>
            <a:r>
              <a:rPr lang="en-US" sz="4400" kern="1200" dirty="0">
                <a:solidFill>
                  <a:schemeClr val="tx1">
                    <a:lumMod val="85000"/>
                    <a:lumOff val="15000"/>
                  </a:schemeClr>
                </a:solidFill>
                <a:latin typeface="+mj-lt"/>
                <a:ea typeface="+mn-ea"/>
                <a:cs typeface="+mn-cs"/>
              </a:rPr>
              <a:t>Same Pair But </a:t>
            </a:r>
            <a:r>
              <a:rPr lang="en-US" sz="4400" kern="1200" dirty="0">
                <a:latin typeface="+mj-lt"/>
                <a:ea typeface="+mn-ea"/>
                <a:cs typeface="+mn-cs"/>
              </a:rPr>
              <a:t>S</a:t>
            </a:r>
            <a:r>
              <a:rPr lang="en-US" sz="4400" kern="1200" dirty="0">
                <a:solidFill>
                  <a:schemeClr val="tx1">
                    <a:lumMod val="85000"/>
                    <a:lumOff val="15000"/>
                  </a:schemeClr>
                </a:solidFill>
                <a:latin typeface="+mj-lt"/>
                <a:ea typeface="+mn-ea"/>
                <a:cs typeface="+mn-cs"/>
              </a:rPr>
              <a:t>witch Patient: Provider Role</a:t>
            </a:r>
          </a:p>
        </p:txBody>
      </p:sp>
      <p:sp>
        <p:nvSpPr>
          <p:cNvPr id="4" name="Content Placeholder 2">
            <a:extLst>
              <a:ext uri="{FF2B5EF4-FFF2-40B4-BE49-F238E27FC236}">
                <a16:creationId xmlns:a16="http://schemas.microsoft.com/office/drawing/2014/main" id="{BEF72DB1-5884-CCBD-EE5E-399B3507A86F}"/>
              </a:ext>
            </a:extLst>
          </p:cNvPr>
          <p:cNvSpPr txBox="1">
            <a:spLocks/>
          </p:cNvSpPr>
          <p:nvPr/>
        </p:nvSpPr>
        <p:spPr>
          <a:xfrm>
            <a:off x="3237032" y="2117912"/>
            <a:ext cx="5717935" cy="1311088"/>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8096">
              <a:spcBef>
                <a:spcPct val="0"/>
              </a:spcBef>
              <a:spcAft>
                <a:spcPts val="504"/>
              </a:spcAft>
              <a:buNone/>
            </a:pPr>
            <a:r>
              <a:rPr lang="en-US" b="1" u="sng" kern="1200" dirty="0">
                <a:latin typeface="+mj-lt"/>
                <a:ea typeface="+mj-ea"/>
                <a:cs typeface="+mj-cs"/>
              </a:rPr>
              <a:t>PATIENT</a:t>
            </a:r>
            <a:r>
              <a:rPr lang="en-US" kern="1200" dirty="0">
                <a:latin typeface="+mj-lt"/>
                <a:ea typeface="+mj-ea"/>
                <a:cs typeface="+mj-cs"/>
              </a:rPr>
              <a:t> (pick up card, any questions)</a:t>
            </a:r>
          </a:p>
          <a:p>
            <a:pPr marL="0" indent="0" defTabSz="768096">
              <a:spcBef>
                <a:spcPct val="0"/>
              </a:spcBef>
              <a:spcAft>
                <a:spcPts val="504"/>
              </a:spcAft>
              <a:buNone/>
            </a:pPr>
            <a:endParaRPr lang="en-US" dirty="0">
              <a:latin typeface="+mj-lt"/>
              <a:ea typeface="+mj-ea"/>
              <a:cs typeface="+mj-cs"/>
            </a:endParaRPr>
          </a:p>
          <a:p>
            <a:pPr marL="0" indent="0" defTabSz="768096">
              <a:spcBef>
                <a:spcPct val="0"/>
              </a:spcBef>
              <a:spcAft>
                <a:spcPts val="504"/>
              </a:spcAft>
              <a:buNone/>
            </a:pPr>
            <a:r>
              <a:rPr lang="en-US" b="1" u="sng" dirty="0">
                <a:latin typeface="+mj-lt"/>
                <a:ea typeface="+mj-ea"/>
                <a:cs typeface="+mj-cs"/>
              </a:rPr>
              <a:t>PROVIDER</a:t>
            </a:r>
            <a:r>
              <a:rPr lang="en-US" b="1" dirty="0">
                <a:solidFill>
                  <a:schemeClr val="bg1"/>
                </a:solidFill>
                <a:latin typeface="+mj-lt"/>
                <a:ea typeface="+mj-ea"/>
                <a:cs typeface="+mj-cs"/>
              </a:rPr>
              <a:t>.</a:t>
            </a:r>
            <a:r>
              <a:rPr lang="en-US" dirty="0"/>
              <a:t> (go to treatment table)</a:t>
            </a:r>
          </a:p>
        </p:txBody>
      </p:sp>
    </p:spTree>
    <p:extLst>
      <p:ext uri="{BB962C8B-B14F-4D97-AF65-F5344CB8AC3E}">
        <p14:creationId xmlns:p14="http://schemas.microsoft.com/office/powerpoint/2010/main" val="118129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B2DF71A-9735-83F2-C756-0C64651E8599}"/>
              </a:ext>
            </a:extLst>
          </p:cNvPr>
          <p:cNvSpPr txBox="1">
            <a:spLocks noGrp="1"/>
          </p:cNvSpPr>
          <p:nvPr>
            <p:ph idx="1"/>
          </p:nvPr>
        </p:nvSpPr>
        <p:spPr>
          <a:xfrm>
            <a:off x="949751" y="592571"/>
            <a:ext cx="10292498" cy="538417"/>
          </a:xfrm>
          <a:prstGeom prst="rect">
            <a:avLst/>
          </a:prstGeom>
          <a:noFill/>
        </p:spPr>
        <p:txBody>
          <a:bodyPr wrap="none" rtlCol="0">
            <a:spAutoFit/>
          </a:bodyPr>
          <a:lstStyle/>
          <a:p>
            <a:pPr marL="0" indent="0">
              <a:spcAft>
                <a:spcPts val="600"/>
              </a:spcAft>
              <a:buNone/>
            </a:pPr>
            <a:r>
              <a:rPr lang="en-US" sz="3200" dirty="0"/>
              <a:t>Figure out what is going on and decide if she can practice.</a:t>
            </a:r>
          </a:p>
        </p:txBody>
      </p:sp>
      <p:sp>
        <p:nvSpPr>
          <p:cNvPr id="8" name="TextBox 7">
            <a:extLst>
              <a:ext uri="{FF2B5EF4-FFF2-40B4-BE49-F238E27FC236}">
                <a16:creationId xmlns:a16="http://schemas.microsoft.com/office/drawing/2014/main" id="{445CC8E9-8A05-D4E1-153A-B3C759559DB5}"/>
              </a:ext>
            </a:extLst>
          </p:cNvPr>
          <p:cNvSpPr txBox="1"/>
          <p:nvPr/>
        </p:nvSpPr>
        <p:spPr>
          <a:xfrm>
            <a:off x="7907115" y="2426973"/>
            <a:ext cx="3701511" cy="2246769"/>
          </a:xfrm>
          <a:prstGeom prst="rect">
            <a:avLst/>
          </a:prstGeom>
          <a:noFill/>
        </p:spPr>
        <p:txBody>
          <a:bodyPr wrap="square" rtlCol="0">
            <a:spAutoFit/>
          </a:bodyPr>
          <a:lstStyle/>
          <a:p>
            <a:r>
              <a:rPr lang="en-US" sz="2800" dirty="0"/>
              <a:t>You now notice increased redness around the ankle and notice redness starting in the toes.</a:t>
            </a:r>
          </a:p>
        </p:txBody>
      </p:sp>
      <p:sp>
        <p:nvSpPr>
          <p:cNvPr id="10" name="TextBox 9">
            <a:extLst>
              <a:ext uri="{FF2B5EF4-FFF2-40B4-BE49-F238E27FC236}">
                <a16:creationId xmlns:a16="http://schemas.microsoft.com/office/drawing/2014/main" id="{099F5D7D-5810-0A30-8BA0-1C303DCFCE3F}"/>
              </a:ext>
            </a:extLst>
          </p:cNvPr>
          <p:cNvSpPr txBox="1"/>
          <p:nvPr/>
        </p:nvSpPr>
        <p:spPr>
          <a:xfrm>
            <a:off x="3048000" y="5720182"/>
            <a:ext cx="6096000" cy="523220"/>
          </a:xfrm>
          <a:prstGeom prst="rect">
            <a:avLst/>
          </a:prstGeom>
          <a:noFill/>
        </p:spPr>
        <p:txBody>
          <a:bodyPr wrap="square">
            <a:spAutoFit/>
          </a:bodyPr>
          <a:lstStyle/>
          <a:p>
            <a:pPr marL="0" indent="0" algn="ctr">
              <a:spcAft>
                <a:spcPts val="600"/>
              </a:spcAft>
              <a:buNone/>
            </a:pPr>
            <a:r>
              <a:rPr lang="en-US" sz="2800" dirty="0"/>
              <a:t>You have five minutes </a:t>
            </a:r>
          </a:p>
        </p:txBody>
      </p:sp>
      <p:pic>
        <p:nvPicPr>
          <p:cNvPr id="3" name="Picture 2">
            <a:extLst>
              <a:ext uri="{FF2B5EF4-FFF2-40B4-BE49-F238E27FC236}">
                <a16:creationId xmlns:a16="http://schemas.microsoft.com/office/drawing/2014/main" id="{BE8617A3-AB6C-FC08-BD49-CD1F6F618C28}"/>
              </a:ext>
            </a:extLst>
          </p:cNvPr>
          <p:cNvPicPr>
            <a:picLocks noChangeAspect="1"/>
          </p:cNvPicPr>
          <p:nvPr/>
        </p:nvPicPr>
        <p:blipFill>
          <a:blip r:embed="rId3"/>
          <a:stretch>
            <a:fillRect/>
          </a:stretch>
        </p:blipFill>
        <p:spPr>
          <a:xfrm>
            <a:off x="746991" y="1782395"/>
            <a:ext cx="6805965" cy="3293209"/>
          </a:xfrm>
          <a:prstGeom prst="rect">
            <a:avLst/>
          </a:prstGeom>
        </p:spPr>
      </p:pic>
    </p:spTree>
    <p:extLst>
      <p:ext uri="{BB962C8B-B14F-4D97-AF65-F5344CB8AC3E}">
        <p14:creationId xmlns:p14="http://schemas.microsoft.com/office/powerpoint/2010/main" val="1861426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680840-8A5D-36A8-136A-8B6C8E67DF9C}"/>
              </a:ext>
            </a:extLst>
          </p:cNvPr>
          <p:cNvSpPr>
            <a:spLocks noGrp="1"/>
          </p:cNvSpPr>
          <p:nvPr>
            <p:ph type="title"/>
          </p:nvPr>
        </p:nvSpPr>
        <p:spPr>
          <a:xfrm>
            <a:off x="1748852" y="2787399"/>
            <a:ext cx="6325850" cy="1283202"/>
          </a:xfrm>
        </p:spPr>
        <p:txBody>
          <a:bodyPr>
            <a:normAutofit/>
          </a:bodyPr>
          <a:lstStyle/>
          <a:p>
            <a:r>
              <a:rPr lang="en-US" sz="2800" dirty="0">
                <a:latin typeface="+mn-lt"/>
              </a:rPr>
              <a:t>Is this a musculoskeletal (MSK) injury?</a:t>
            </a:r>
            <a:br>
              <a:rPr lang="en-US" sz="2800" dirty="0">
                <a:latin typeface="+mn-lt"/>
              </a:rPr>
            </a:br>
            <a:br>
              <a:rPr lang="en-US" sz="2800" dirty="0">
                <a:latin typeface="+mn-lt"/>
              </a:rPr>
            </a:br>
            <a:r>
              <a:rPr lang="en-US" sz="2800" dirty="0">
                <a:latin typeface="+mn-lt"/>
              </a:rPr>
              <a:t>If not, then what?</a:t>
            </a:r>
          </a:p>
        </p:txBody>
      </p:sp>
    </p:spTree>
    <p:extLst>
      <p:ext uri="{BB962C8B-B14F-4D97-AF65-F5344CB8AC3E}">
        <p14:creationId xmlns:p14="http://schemas.microsoft.com/office/powerpoint/2010/main" val="2768933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433D92-3311-633C-A524-84BBEDC26DA2}"/>
              </a:ext>
            </a:extLst>
          </p:cNvPr>
          <p:cNvSpPr>
            <a:spLocks noGrp="1"/>
          </p:cNvSpPr>
          <p:nvPr>
            <p:ph idx="1"/>
          </p:nvPr>
        </p:nvSpPr>
        <p:spPr>
          <a:xfrm>
            <a:off x="838200" y="1456206"/>
            <a:ext cx="10515600" cy="3945588"/>
          </a:xfrm>
        </p:spPr>
        <p:txBody>
          <a:bodyPr/>
          <a:lstStyle/>
          <a:p>
            <a:pPr marL="0" indent="0">
              <a:buNone/>
            </a:pPr>
            <a:r>
              <a:rPr lang="en-US" dirty="0"/>
              <a:t>She reports symptoms of an illness, right? </a:t>
            </a:r>
          </a:p>
          <a:p>
            <a:pPr marL="0" indent="0">
              <a:buNone/>
            </a:pPr>
            <a:endParaRPr lang="en-US" dirty="0"/>
          </a:p>
          <a:p>
            <a:pPr marL="0" indent="0">
              <a:buNone/>
            </a:pPr>
            <a:r>
              <a:rPr lang="en-US" dirty="0"/>
              <a:t>What if I give new meds like cold and flu medicine or acetaminophen at this point?</a:t>
            </a:r>
          </a:p>
          <a:p>
            <a:pPr marL="0" indent="0">
              <a:buNone/>
            </a:pPr>
            <a:endParaRPr lang="en-US" dirty="0"/>
          </a:p>
          <a:p>
            <a:pPr marL="0" indent="0">
              <a:buNone/>
            </a:pPr>
            <a:r>
              <a:rPr lang="en-US" dirty="0"/>
              <a:t>Any ideas?</a:t>
            </a:r>
          </a:p>
          <a:p>
            <a:pPr marL="0" indent="0">
              <a:buNone/>
            </a:pPr>
            <a:endParaRPr lang="en-US" dirty="0"/>
          </a:p>
          <a:p>
            <a:pPr marL="0" indent="0">
              <a:buNone/>
            </a:pPr>
            <a:r>
              <a:rPr lang="en-US" dirty="0"/>
              <a:t>What do we do? </a:t>
            </a:r>
          </a:p>
        </p:txBody>
      </p:sp>
    </p:spTree>
    <p:extLst>
      <p:ext uri="{BB962C8B-B14F-4D97-AF65-F5344CB8AC3E}">
        <p14:creationId xmlns:p14="http://schemas.microsoft.com/office/powerpoint/2010/main" val="316087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C27CB4-F945-999A-EDEA-321D93C59D62}"/>
              </a:ext>
            </a:extLst>
          </p:cNvPr>
          <p:cNvSpPr txBox="1"/>
          <p:nvPr/>
        </p:nvSpPr>
        <p:spPr>
          <a:xfrm>
            <a:off x="2299833" y="327204"/>
            <a:ext cx="7592335" cy="769441"/>
          </a:xfrm>
          <a:prstGeom prst="rect">
            <a:avLst/>
          </a:prstGeom>
          <a:noFill/>
        </p:spPr>
        <p:txBody>
          <a:bodyPr wrap="none" rtlCol="0">
            <a:spAutoFit/>
          </a:bodyPr>
          <a:lstStyle/>
          <a:p>
            <a:r>
              <a:rPr lang="en-US" sz="4400" dirty="0">
                <a:latin typeface="+mj-lt"/>
              </a:rPr>
              <a:t>Let’s Investigate the Possibilities</a:t>
            </a:r>
          </a:p>
        </p:txBody>
      </p:sp>
      <p:sp>
        <p:nvSpPr>
          <p:cNvPr id="6" name="Content Placeholder 2">
            <a:extLst>
              <a:ext uri="{FF2B5EF4-FFF2-40B4-BE49-F238E27FC236}">
                <a16:creationId xmlns:a16="http://schemas.microsoft.com/office/drawing/2014/main" id="{0A488C46-9FC1-4570-19E0-AFCE161ED285}"/>
              </a:ext>
            </a:extLst>
          </p:cNvPr>
          <p:cNvSpPr>
            <a:spLocks/>
          </p:cNvSpPr>
          <p:nvPr/>
        </p:nvSpPr>
        <p:spPr>
          <a:xfrm>
            <a:off x="182381" y="1565451"/>
            <a:ext cx="11827239" cy="911126"/>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p>
            <a:pPr defTabSz="850392">
              <a:spcAft>
                <a:spcPts val="600"/>
              </a:spcAft>
            </a:pPr>
            <a:r>
              <a:rPr lang="en-US" sz="2800" kern="1200" dirty="0">
                <a:solidFill>
                  <a:schemeClr val="tx1"/>
                </a:solidFill>
                <a:latin typeface="+mn-lt"/>
                <a:ea typeface="+mn-ea"/>
                <a:cs typeface="+mn-cs"/>
              </a:rPr>
              <a:t>Group 1</a:t>
            </a:r>
          </a:p>
          <a:p>
            <a:pPr defTabSz="850392">
              <a:spcAft>
                <a:spcPts val="600"/>
              </a:spcAft>
            </a:pPr>
            <a:r>
              <a:rPr lang="en-US" sz="2800" kern="1200" dirty="0">
                <a:solidFill>
                  <a:schemeClr val="tx1"/>
                </a:solidFill>
                <a:latin typeface="+mn-lt"/>
                <a:ea typeface="+mn-ea"/>
                <a:cs typeface="+mn-cs"/>
              </a:rPr>
              <a:t>Osteomyelitis,</a:t>
            </a:r>
            <a:r>
              <a:rPr lang="en-US" sz="2800" dirty="0">
                <a:solidFill>
                  <a:schemeClr val="tx1"/>
                </a:solidFill>
              </a:rPr>
              <a:t> r</a:t>
            </a:r>
            <a:r>
              <a:rPr lang="en-US" sz="2800" kern="1200" dirty="0">
                <a:solidFill>
                  <a:schemeClr val="tx1"/>
                </a:solidFill>
                <a:latin typeface="+mn-lt"/>
                <a:ea typeface="+mn-ea"/>
                <a:cs typeface="+mn-cs"/>
              </a:rPr>
              <a:t>heumatoid arthritis, flat foot – Pes planus, f</a:t>
            </a:r>
            <a:r>
              <a:rPr lang="en-US" sz="2800" dirty="0">
                <a:solidFill>
                  <a:schemeClr val="tx1"/>
                </a:solidFill>
              </a:rPr>
              <a:t>lu</a:t>
            </a:r>
            <a:endParaRPr lang="en-US" sz="2800" kern="1200" dirty="0">
              <a:solidFill>
                <a:schemeClr val="tx1"/>
              </a:solidFill>
            </a:endParaRPr>
          </a:p>
          <a:p>
            <a:pPr marL="0" indent="0">
              <a:spcAft>
                <a:spcPts val="600"/>
              </a:spcAft>
              <a:buNone/>
            </a:pPr>
            <a:endParaRPr lang="en-US" sz="2400" dirty="0">
              <a:solidFill>
                <a:schemeClr val="tx1"/>
              </a:solidFill>
            </a:endParaRPr>
          </a:p>
        </p:txBody>
      </p:sp>
      <p:sp>
        <p:nvSpPr>
          <p:cNvPr id="7" name="Content Placeholder 2">
            <a:extLst>
              <a:ext uri="{FF2B5EF4-FFF2-40B4-BE49-F238E27FC236}">
                <a16:creationId xmlns:a16="http://schemas.microsoft.com/office/drawing/2014/main" id="{64C32DBB-F5BE-822A-9690-ED71D4503D8B}"/>
              </a:ext>
            </a:extLst>
          </p:cNvPr>
          <p:cNvSpPr txBox="1">
            <a:spLocks/>
          </p:cNvSpPr>
          <p:nvPr/>
        </p:nvSpPr>
        <p:spPr>
          <a:xfrm>
            <a:off x="182380" y="2703057"/>
            <a:ext cx="11827240" cy="911127"/>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dirty="0"/>
              <a:t>Group 2</a:t>
            </a:r>
            <a:r>
              <a:rPr lang="en-US" kern="1200" dirty="0">
                <a:latin typeface="+mn-lt"/>
                <a:ea typeface="+mn-ea"/>
                <a:cs typeface="+mn-cs"/>
              </a:rPr>
              <a:t> </a:t>
            </a:r>
          </a:p>
          <a:p>
            <a:pPr marL="0" indent="0" defTabSz="850392">
              <a:spcBef>
                <a:spcPts val="930"/>
              </a:spcBef>
              <a:buNone/>
            </a:pPr>
            <a:r>
              <a:rPr lang="en-US" kern="1200" dirty="0">
                <a:latin typeface="+mn-lt"/>
                <a:ea typeface="+mn-ea"/>
                <a:cs typeface="+mn-cs"/>
              </a:rPr>
              <a:t>Gout, bursitis</a:t>
            </a:r>
            <a:r>
              <a:rPr lang="en-US" dirty="0"/>
              <a:t>, b</a:t>
            </a:r>
            <a:r>
              <a:rPr lang="en-US" kern="1200" dirty="0">
                <a:latin typeface="+mn-lt"/>
                <a:ea typeface="+mn-ea"/>
                <a:cs typeface="+mn-cs"/>
              </a:rPr>
              <a:t>acterial skin infection (cellulitis), </a:t>
            </a:r>
            <a:r>
              <a:rPr lang="en-US" dirty="0"/>
              <a:t>COVID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
        <p:nvSpPr>
          <p:cNvPr id="8" name="Content Placeholder 2">
            <a:extLst>
              <a:ext uri="{FF2B5EF4-FFF2-40B4-BE49-F238E27FC236}">
                <a16:creationId xmlns:a16="http://schemas.microsoft.com/office/drawing/2014/main" id="{E350D3E0-0398-C049-9EC0-E10BFA5B561C}"/>
              </a:ext>
            </a:extLst>
          </p:cNvPr>
          <p:cNvSpPr txBox="1">
            <a:spLocks/>
          </p:cNvSpPr>
          <p:nvPr/>
        </p:nvSpPr>
        <p:spPr>
          <a:xfrm>
            <a:off x="182380" y="3840664"/>
            <a:ext cx="11827240" cy="9111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3</a:t>
            </a:r>
          </a:p>
          <a:p>
            <a:pPr marL="0" indent="0" defTabSz="850392">
              <a:spcBef>
                <a:spcPts val="930"/>
              </a:spcBef>
              <a:buNone/>
            </a:pPr>
            <a:r>
              <a:rPr lang="en-US" kern="1200" dirty="0">
                <a:latin typeface="+mn-lt"/>
                <a:ea typeface="+mn-ea"/>
                <a:cs typeface="+mn-cs"/>
              </a:rPr>
              <a:t>Ankle edema, Staph</a:t>
            </a:r>
            <a:r>
              <a:rPr lang="en-US" dirty="0"/>
              <a:t>, i</a:t>
            </a:r>
            <a:r>
              <a:rPr lang="en-US" kern="1200" dirty="0">
                <a:latin typeface="+mn-lt"/>
                <a:ea typeface="+mn-ea"/>
                <a:cs typeface="+mn-cs"/>
              </a:rPr>
              <a:t>nfected joint (septic arthritis), m</a:t>
            </a:r>
            <a:r>
              <a:rPr lang="en-US" dirty="0"/>
              <a:t>ononucleosis</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defTabSz="850392">
              <a:spcBef>
                <a:spcPts val="930"/>
              </a:spcBef>
              <a:buNone/>
            </a:pPr>
            <a:endParaRPr lang="en-US" sz="2400" kern="1200" dirty="0">
              <a:solidFill>
                <a:schemeClr val="tx1"/>
              </a:solidFill>
              <a:latin typeface="+mn-lt"/>
              <a:ea typeface="+mn-ea"/>
              <a:cs typeface="+mn-cs"/>
            </a:endParaRPr>
          </a:p>
          <a:p>
            <a:pPr marL="0" indent="0">
              <a:buNone/>
            </a:pPr>
            <a:endParaRPr lang="en-US" sz="2400" dirty="0"/>
          </a:p>
        </p:txBody>
      </p:sp>
      <p:sp>
        <p:nvSpPr>
          <p:cNvPr id="9" name="Content Placeholder 2">
            <a:extLst>
              <a:ext uri="{FF2B5EF4-FFF2-40B4-BE49-F238E27FC236}">
                <a16:creationId xmlns:a16="http://schemas.microsoft.com/office/drawing/2014/main" id="{F9D02202-B23E-E6FE-E8F7-3E8649B2A625}"/>
              </a:ext>
            </a:extLst>
          </p:cNvPr>
          <p:cNvSpPr txBox="1">
            <a:spLocks/>
          </p:cNvSpPr>
          <p:nvPr/>
        </p:nvSpPr>
        <p:spPr>
          <a:xfrm>
            <a:off x="182380" y="4978271"/>
            <a:ext cx="11827240" cy="93331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4</a:t>
            </a:r>
          </a:p>
          <a:p>
            <a:pPr marL="0" indent="0" defTabSz="850392">
              <a:spcBef>
                <a:spcPts val="930"/>
              </a:spcBef>
              <a:buNone/>
            </a:pPr>
            <a:r>
              <a:rPr lang="en-US" kern="1200" dirty="0">
                <a:latin typeface="+mn-lt"/>
                <a:ea typeface="+mn-ea"/>
                <a:cs typeface="+mn-cs"/>
              </a:rPr>
              <a:t>Achilles injury or rupture or tendinitis</a:t>
            </a:r>
            <a:r>
              <a:rPr lang="en-US" dirty="0"/>
              <a:t>, s</a:t>
            </a:r>
            <a:r>
              <a:rPr lang="en-US" kern="1200" dirty="0">
                <a:latin typeface="+mn-lt"/>
                <a:ea typeface="+mn-ea"/>
                <a:cs typeface="+mn-cs"/>
              </a:rPr>
              <a:t>tress fracture, psoriatic arthritis, c</a:t>
            </a:r>
            <a:r>
              <a:rPr lang="en-US" dirty="0"/>
              <a:t>old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1694253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5BA4-6F43-AC6F-99E2-7985F8DCBC22}"/>
              </a:ext>
            </a:extLst>
          </p:cNvPr>
          <p:cNvSpPr>
            <a:spLocks noGrp="1"/>
          </p:cNvSpPr>
          <p:nvPr>
            <p:ph type="title"/>
          </p:nvPr>
        </p:nvSpPr>
        <p:spPr>
          <a:xfrm>
            <a:off x="221672" y="107002"/>
            <a:ext cx="11748655" cy="1616075"/>
          </a:xfrm>
        </p:spPr>
        <p:txBody>
          <a:bodyPr>
            <a:noAutofit/>
          </a:bodyPr>
          <a:lstStyle/>
          <a:p>
            <a:r>
              <a:rPr lang="en-US" sz="2800" dirty="0"/>
              <a:t>Your group has </a:t>
            </a:r>
            <a:r>
              <a:rPr lang="en-US" sz="2800" b="1" dirty="0"/>
              <a:t>seven minutes </a:t>
            </a:r>
            <a:r>
              <a:rPr lang="en-US" sz="2800" dirty="0"/>
              <a:t>to pick your top differential diagnosis, and it must include: </a:t>
            </a:r>
            <a:br>
              <a:rPr lang="en-US" sz="2800" dirty="0"/>
            </a:br>
            <a:br>
              <a:rPr lang="en-US" sz="2800" dirty="0"/>
            </a:br>
            <a:r>
              <a:rPr lang="en-US" sz="2800" b="1" dirty="0"/>
              <a:t>S&amp;S, Presentation, Onset, Quality, Severity, Progression, Tests, History </a:t>
            </a:r>
            <a:endParaRPr lang="en-US" sz="2800" dirty="0"/>
          </a:p>
        </p:txBody>
      </p:sp>
      <p:sp>
        <p:nvSpPr>
          <p:cNvPr id="6" name="Content Placeholder 2">
            <a:extLst>
              <a:ext uri="{FF2B5EF4-FFF2-40B4-BE49-F238E27FC236}">
                <a16:creationId xmlns:a16="http://schemas.microsoft.com/office/drawing/2014/main" id="{2086C241-B281-0F85-015E-F6996CFAA1A5}"/>
              </a:ext>
            </a:extLst>
          </p:cNvPr>
          <p:cNvSpPr>
            <a:spLocks/>
          </p:cNvSpPr>
          <p:nvPr/>
        </p:nvSpPr>
        <p:spPr>
          <a:xfrm>
            <a:off x="110837" y="1973113"/>
            <a:ext cx="11970326" cy="1056316"/>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p>
            <a:pPr defTabSz="850392">
              <a:spcAft>
                <a:spcPts val="600"/>
              </a:spcAft>
            </a:pPr>
            <a:r>
              <a:rPr lang="en-US" sz="2800" kern="1200" dirty="0">
                <a:solidFill>
                  <a:schemeClr val="tx1"/>
                </a:solidFill>
                <a:latin typeface="+mn-lt"/>
                <a:ea typeface="+mn-ea"/>
                <a:cs typeface="+mn-cs"/>
              </a:rPr>
              <a:t>Group 1</a:t>
            </a:r>
          </a:p>
          <a:p>
            <a:pPr defTabSz="850392">
              <a:spcAft>
                <a:spcPts val="600"/>
              </a:spcAft>
            </a:pPr>
            <a:r>
              <a:rPr lang="en-US" sz="2800" kern="1200" dirty="0">
                <a:solidFill>
                  <a:schemeClr val="tx1"/>
                </a:solidFill>
                <a:latin typeface="+mn-lt"/>
                <a:ea typeface="+mn-ea"/>
                <a:cs typeface="+mn-cs"/>
              </a:rPr>
              <a:t>Osteomyelitis,</a:t>
            </a:r>
            <a:r>
              <a:rPr lang="en-US" sz="2800" dirty="0">
                <a:solidFill>
                  <a:schemeClr val="tx1"/>
                </a:solidFill>
              </a:rPr>
              <a:t> r</a:t>
            </a:r>
            <a:r>
              <a:rPr lang="en-US" sz="2800" kern="1200" dirty="0">
                <a:solidFill>
                  <a:schemeClr val="tx1"/>
                </a:solidFill>
                <a:latin typeface="+mn-lt"/>
                <a:ea typeface="+mn-ea"/>
                <a:cs typeface="+mn-cs"/>
              </a:rPr>
              <a:t>heumatoid arthritis, flat foot – Pes planus, f</a:t>
            </a:r>
            <a:r>
              <a:rPr lang="en-US" sz="2800" dirty="0">
                <a:solidFill>
                  <a:schemeClr val="tx1"/>
                </a:solidFill>
              </a:rPr>
              <a:t>lu</a:t>
            </a:r>
            <a:endParaRPr lang="en-US" sz="2800" kern="1200" dirty="0">
              <a:solidFill>
                <a:schemeClr val="tx1"/>
              </a:solidFill>
            </a:endParaRPr>
          </a:p>
          <a:p>
            <a:pPr marL="0" indent="0">
              <a:spcAft>
                <a:spcPts val="600"/>
              </a:spcAft>
              <a:buNone/>
            </a:pPr>
            <a:endParaRPr lang="en-US" sz="2400" dirty="0">
              <a:solidFill>
                <a:schemeClr val="tx1"/>
              </a:solidFill>
            </a:endParaRPr>
          </a:p>
        </p:txBody>
      </p:sp>
      <p:sp>
        <p:nvSpPr>
          <p:cNvPr id="7" name="Content Placeholder 2">
            <a:extLst>
              <a:ext uri="{FF2B5EF4-FFF2-40B4-BE49-F238E27FC236}">
                <a16:creationId xmlns:a16="http://schemas.microsoft.com/office/drawing/2014/main" id="{31639E2A-0941-76BB-7AB4-7830F45F5707}"/>
              </a:ext>
            </a:extLst>
          </p:cNvPr>
          <p:cNvSpPr txBox="1">
            <a:spLocks/>
          </p:cNvSpPr>
          <p:nvPr/>
        </p:nvSpPr>
        <p:spPr>
          <a:xfrm>
            <a:off x="110838" y="3169740"/>
            <a:ext cx="11970324" cy="911127"/>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dirty="0"/>
              <a:t>Group 2</a:t>
            </a:r>
            <a:r>
              <a:rPr lang="en-US" kern="1200" dirty="0">
                <a:latin typeface="+mn-lt"/>
                <a:ea typeface="+mn-ea"/>
                <a:cs typeface="+mn-cs"/>
              </a:rPr>
              <a:t> </a:t>
            </a:r>
          </a:p>
          <a:p>
            <a:pPr marL="0" indent="0" defTabSz="850392">
              <a:spcBef>
                <a:spcPts val="930"/>
              </a:spcBef>
              <a:buNone/>
            </a:pPr>
            <a:r>
              <a:rPr lang="en-US" kern="1200" dirty="0">
                <a:latin typeface="+mn-lt"/>
                <a:ea typeface="+mn-ea"/>
                <a:cs typeface="+mn-cs"/>
              </a:rPr>
              <a:t>Gout, bursitis</a:t>
            </a:r>
            <a:r>
              <a:rPr lang="en-US" dirty="0"/>
              <a:t>, </a:t>
            </a:r>
            <a:r>
              <a:rPr lang="en-US" kern="1200" dirty="0">
                <a:latin typeface="+mn-lt"/>
                <a:ea typeface="+mn-ea"/>
                <a:cs typeface="+mn-cs"/>
              </a:rPr>
              <a:t>bacterial skin infection (cellulitis), </a:t>
            </a:r>
            <a:r>
              <a:rPr lang="en-US" dirty="0"/>
              <a:t>COVID-19</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
        <p:nvSpPr>
          <p:cNvPr id="8" name="Content Placeholder 2">
            <a:extLst>
              <a:ext uri="{FF2B5EF4-FFF2-40B4-BE49-F238E27FC236}">
                <a16:creationId xmlns:a16="http://schemas.microsoft.com/office/drawing/2014/main" id="{B232AF40-06EC-CFDC-ECED-6D4322B94615}"/>
              </a:ext>
            </a:extLst>
          </p:cNvPr>
          <p:cNvSpPr txBox="1">
            <a:spLocks/>
          </p:cNvSpPr>
          <p:nvPr/>
        </p:nvSpPr>
        <p:spPr>
          <a:xfrm>
            <a:off x="110838" y="4221178"/>
            <a:ext cx="11970325" cy="9111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3</a:t>
            </a:r>
          </a:p>
          <a:p>
            <a:pPr marL="0" indent="0" defTabSz="850392">
              <a:spcBef>
                <a:spcPts val="930"/>
              </a:spcBef>
              <a:buNone/>
            </a:pPr>
            <a:r>
              <a:rPr lang="en-US" kern="1200" dirty="0">
                <a:latin typeface="+mn-lt"/>
                <a:ea typeface="+mn-ea"/>
                <a:cs typeface="+mn-cs"/>
              </a:rPr>
              <a:t>Ankle edema, Staph</a:t>
            </a:r>
            <a:r>
              <a:rPr lang="en-US" dirty="0"/>
              <a:t>, i</a:t>
            </a:r>
            <a:r>
              <a:rPr lang="en-US" kern="1200" dirty="0">
                <a:latin typeface="+mn-lt"/>
                <a:ea typeface="+mn-ea"/>
                <a:cs typeface="+mn-cs"/>
              </a:rPr>
              <a:t>nfected joint (septic arthritis), m</a:t>
            </a:r>
            <a:r>
              <a:rPr lang="en-US" dirty="0"/>
              <a:t>ononucleosis</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defTabSz="850392">
              <a:spcBef>
                <a:spcPts val="930"/>
              </a:spcBef>
              <a:buNone/>
            </a:pPr>
            <a:endParaRPr lang="en-US" sz="2400" kern="1200" dirty="0">
              <a:solidFill>
                <a:schemeClr val="tx1"/>
              </a:solidFill>
              <a:latin typeface="+mn-lt"/>
              <a:ea typeface="+mn-ea"/>
              <a:cs typeface="+mn-cs"/>
            </a:endParaRPr>
          </a:p>
          <a:p>
            <a:pPr marL="0" indent="0">
              <a:buNone/>
            </a:pPr>
            <a:endParaRPr lang="en-US" sz="2400" dirty="0"/>
          </a:p>
        </p:txBody>
      </p:sp>
      <p:sp>
        <p:nvSpPr>
          <p:cNvPr id="9" name="Content Placeholder 2">
            <a:extLst>
              <a:ext uri="{FF2B5EF4-FFF2-40B4-BE49-F238E27FC236}">
                <a16:creationId xmlns:a16="http://schemas.microsoft.com/office/drawing/2014/main" id="{892AD8DD-E615-D67F-489A-577E79ABE090}"/>
              </a:ext>
            </a:extLst>
          </p:cNvPr>
          <p:cNvSpPr txBox="1">
            <a:spLocks/>
          </p:cNvSpPr>
          <p:nvPr/>
        </p:nvSpPr>
        <p:spPr>
          <a:xfrm>
            <a:off x="110837" y="5272616"/>
            <a:ext cx="11970326" cy="91112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4</a:t>
            </a:r>
          </a:p>
          <a:p>
            <a:pPr marL="0" indent="0" defTabSz="850392">
              <a:spcBef>
                <a:spcPts val="930"/>
              </a:spcBef>
              <a:buNone/>
            </a:pPr>
            <a:r>
              <a:rPr lang="en-US" kern="1200" dirty="0">
                <a:latin typeface="+mn-lt"/>
                <a:ea typeface="+mn-ea"/>
                <a:cs typeface="+mn-cs"/>
              </a:rPr>
              <a:t>Achilles injury or rupture</a:t>
            </a:r>
            <a:r>
              <a:rPr lang="en-US" dirty="0"/>
              <a:t> or </a:t>
            </a:r>
            <a:r>
              <a:rPr lang="en-US" kern="1200" dirty="0">
                <a:latin typeface="+mn-lt"/>
                <a:ea typeface="+mn-ea"/>
                <a:cs typeface="+mn-cs"/>
              </a:rPr>
              <a:t>tendinitis</a:t>
            </a:r>
            <a:r>
              <a:rPr lang="en-US" dirty="0"/>
              <a:t>, s</a:t>
            </a:r>
            <a:r>
              <a:rPr lang="en-US" kern="1200" dirty="0">
                <a:latin typeface="+mn-lt"/>
                <a:ea typeface="+mn-ea"/>
                <a:cs typeface="+mn-cs"/>
              </a:rPr>
              <a:t>tress fracture, psoriatic arthritis, c</a:t>
            </a:r>
            <a:r>
              <a:rPr lang="en-US" dirty="0"/>
              <a:t>old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2214585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D6F4-D176-FBC6-0264-01CC522125C0}"/>
              </a:ext>
            </a:extLst>
          </p:cNvPr>
          <p:cNvSpPr>
            <a:spLocks noGrp="1"/>
          </p:cNvSpPr>
          <p:nvPr>
            <p:ph type="title"/>
          </p:nvPr>
        </p:nvSpPr>
        <p:spPr/>
        <p:txBody>
          <a:bodyPr/>
          <a:lstStyle/>
          <a:p>
            <a:pPr algn="ctr"/>
            <a:r>
              <a:rPr lang="en-US" dirty="0"/>
              <a:t>Listen and Vote On the Clinical Diagnosis</a:t>
            </a:r>
          </a:p>
        </p:txBody>
      </p:sp>
      <p:sp>
        <p:nvSpPr>
          <p:cNvPr id="3" name="Content Placeholder 2">
            <a:extLst>
              <a:ext uri="{FF2B5EF4-FFF2-40B4-BE49-F238E27FC236}">
                <a16:creationId xmlns:a16="http://schemas.microsoft.com/office/drawing/2014/main" id="{77C09DCF-1CE7-947B-F77E-42BA83758B35}"/>
              </a:ext>
            </a:extLst>
          </p:cNvPr>
          <p:cNvSpPr>
            <a:spLocks noGrp="1"/>
          </p:cNvSpPr>
          <p:nvPr>
            <p:ph idx="1"/>
          </p:nvPr>
        </p:nvSpPr>
        <p:spPr>
          <a:xfrm>
            <a:off x="838200" y="1825626"/>
            <a:ext cx="10515600" cy="3585824"/>
          </a:xfrm>
        </p:spPr>
        <p:txBody>
          <a:bodyPr>
            <a:normAutofit/>
          </a:bodyPr>
          <a:lstStyle/>
          <a:p>
            <a:pPr marL="0" indent="0">
              <a:buNone/>
            </a:pPr>
            <a:r>
              <a:rPr lang="en-US" dirty="0"/>
              <a:t>Each group has one minute to present their top pick.</a:t>
            </a:r>
          </a:p>
          <a:p>
            <a:pPr marL="0" indent="0">
              <a:buNone/>
            </a:pPr>
            <a:endParaRPr lang="en-US" dirty="0"/>
          </a:p>
          <a:p>
            <a:pPr marL="0" indent="0">
              <a:buNone/>
            </a:pPr>
            <a:r>
              <a:rPr lang="en-US" dirty="0"/>
              <a:t>We have two minutes to pick the most likely diagnosis.</a:t>
            </a:r>
          </a:p>
          <a:p>
            <a:pPr marL="0" indent="0">
              <a:buNone/>
            </a:pPr>
            <a:endParaRPr lang="en-US" dirty="0"/>
          </a:p>
          <a:p>
            <a:pPr marL="0" indent="0">
              <a:buNone/>
            </a:pPr>
            <a:r>
              <a:rPr lang="en-US" dirty="0"/>
              <a:t>What is your vote?</a:t>
            </a:r>
          </a:p>
          <a:p>
            <a:pPr marL="0" indent="0">
              <a:buNone/>
            </a:pPr>
            <a:endParaRPr lang="en-US" dirty="0"/>
          </a:p>
          <a:p>
            <a:pPr marL="0" indent="0">
              <a:buNone/>
            </a:pPr>
            <a:r>
              <a:rPr lang="en-US" dirty="0"/>
              <a:t>I will write the two (or three) highest vote getters on the board</a:t>
            </a:r>
          </a:p>
        </p:txBody>
      </p:sp>
    </p:spTree>
    <p:extLst>
      <p:ext uri="{BB962C8B-B14F-4D97-AF65-F5344CB8AC3E}">
        <p14:creationId xmlns:p14="http://schemas.microsoft.com/office/powerpoint/2010/main" val="450905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2C8F-B9A0-04AA-D893-538BC308CAD4}"/>
              </a:ext>
            </a:extLst>
          </p:cNvPr>
          <p:cNvSpPr>
            <a:spLocks noGrp="1"/>
          </p:cNvSpPr>
          <p:nvPr>
            <p:ph type="title"/>
          </p:nvPr>
        </p:nvSpPr>
        <p:spPr>
          <a:xfrm>
            <a:off x="811833" y="1697636"/>
            <a:ext cx="10568334" cy="3462728"/>
          </a:xfrm>
        </p:spPr>
        <p:txBody>
          <a:bodyPr>
            <a:normAutofit fontScale="90000"/>
          </a:bodyPr>
          <a:lstStyle/>
          <a:p>
            <a:r>
              <a:rPr lang="en-US" sz="3100" dirty="0">
                <a:latin typeface="+mn-lt"/>
              </a:rPr>
              <a:t>Just when you think you know what it is, the athlete calls and says, </a:t>
            </a:r>
            <a:br>
              <a:rPr lang="en-US" dirty="0">
                <a:latin typeface="+mn-lt"/>
              </a:rPr>
            </a:br>
            <a:br>
              <a:rPr lang="en-US" dirty="0">
                <a:latin typeface="+mn-lt"/>
              </a:rPr>
            </a:br>
            <a:r>
              <a:rPr lang="en-US" sz="3100" dirty="0">
                <a:latin typeface="+mn-lt"/>
                <a:ea typeface="Calibri" panose="020F0502020204030204" pitchFamily="34" charset="0"/>
                <a:cs typeface="Calibri" panose="020F0502020204030204" pitchFamily="34" charset="0"/>
              </a:rPr>
              <a:t>“I spoke to my mom and dad. I think it’s gout.”</a:t>
            </a:r>
            <a:br>
              <a:rPr lang="en-US" sz="3100" dirty="0">
                <a:latin typeface="+mn-lt"/>
                <a:ea typeface="Calibri" panose="020F0502020204030204" pitchFamily="34" charset="0"/>
                <a:cs typeface="Calibri" panose="020F0502020204030204" pitchFamily="34" charset="0"/>
              </a:rPr>
            </a:br>
            <a:br>
              <a:rPr lang="en-US" sz="3100" dirty="0">
                <a:latin typeface="+mn-lt"/>
                <a:ea typeface="Calibri" panose="020F0502020204030204" pitchFamily="34" charset="0"/>
                <a:cs typeface="Calibri" panose="020F0502020204030204" pitchFamily="34" charset="0"/>
              </a:rPr>
            </a:br>
            <a:r>
              <a:rPr lang="en-US" sz="3100" dirty="0">
                <a:latin typeface="+mn-lt"/>
              </a:rPr>
              <a:t>“Can you get me some tart cherry juice, ginger, apple cider vinegar, and lemon juice? </a:t>
            </a:r>
            <a:r>
              <a:rPr lang="en-US" sz="3100" kern="100" dirty="0">
                <a:latin typeface="+mn-lt"/>
                <a:ea typeface="Calibri" panose="020F0502020204030204" pitchFamily="34" charset="0"/>
                <a:cs typeface="Times New Roman" panose="02020603050405020304" pitchFamily="18" charset="0"/>
              </a:rPr>
              <a:t>This has worked in the past for my family when a flare up has occurred, and it means I don’t have to see the doctor.” </a:t>
            </a:r>
            <a:br>
              <a:rPr lang="en-US" sz="3600" kern="100" dirty="0">
                <a:latin typeface="Calibri" panose="020F0502020204030204" pitchFamily="34" charset="0"/>
                <a:ea typeface="Calibri" panose="020F0502020204030204" pitchFamily="34" charset="0"/>
                <a:cs typeface="Times New Roman" panose="02020603050405020304" pitchFamily="18" charset="0"/>
              </a:rPr>
            </a:b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044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A569F2-B0D5-0200-044A-2F95962CAD0D}"/>
              </a:ext>
            </a:extLst>
          </p:cNvPr>
          <p:cNvSpPr>
            <a:spLocks noGrp="1"/>
          </p:cNvSpPr>
          <p:nvPr>
            <p:ph idx="1"/>
          </p:nvPr>
        </p:nvSpPr>
        <p:spPr>
          <a:xfrm>
            <a:off x="838200" y="1436785"/>
            <a:ext cx="10515600" cy="3984431"/>
          </a:xfrm>
        </p:spPr>
        <p:txBody>
          <a:bodyPr/>
          <a:lstStyle/>
          <a:p>
            <a:pPr marL="0" indent="0">
              <a:buNone/>
            </a:pPr>
            <a:r>
              <a:rPr lang="en-US" dirty="0"/>
              <a:t>Can the group who studied gout present on gout (again)? </a:t>
            </a:r>
          </a:p>
          <a:p>
            <a:pPr marL="0" indent="0">
              <a:buNone/>
            </a:pPr>
            <a:endParaRPr lang="en-US" dirty="0"/>
          </a:p>
          <a:p>
            <a:pPr marL="0" indent="0">
              <a:buNone/>
            </a:pPr>
            <a:r>
              <a:rPr lang="en-US" dirty="0"/>
              <a:t>Do we agree? Is that a likely diagnosis?</a:t>
            </a:r>
          </a:p>
          <a:p>
            <a:pPr marL="0" indent="0">
              <a:buNone/>
            </a:pPr>
            <a:endParaRPr lang="en-US" dirty="0"/>
          </a:p>
          <a:p>
            <a:pPr marL="0" indent="0">
              <a:buNone/>
            </a:pPr>
            <a:r>
              <a:rPr lang="en-US" dirty="0"/>
              <a:t>What do you think about this request for alternative therapies? </a:t>
            </a:r>
          </a:p>
          <a:p>
            <a:pPr marL="0" indent="0">
              <a:buNone/>
            </a:pPr>
            <a:endParaRPr lang="en-US" dirty="0"/>
          </a:p>
          <a:p>
            <a:pPr marL="0" indent="0">
              <a:buNone/>
            </a:pPr>
            <a:r>
              <a:rPr lang="en-US" dirty="0"/>
              <a:t>Knowing it is, or could be gout, what is your next step and will you provide alternative therapies?</a:t>
            </a:r>
          </a:p>
        </p:txBody>
      </p:sp>
    </p:spTree>
    <p:extLst>
      <p:ext uri="{BB962C8B-B14F-4D97-AF65-F5344CB8AC3E}">
        <p14:creationId xmlns:p14="http://schemas.microsoft.com/office/powerpoint/2010/main" val="4097793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B965A-0EA2-9848-E9CB-161AB27FCA8A}"/>
              </a:ext>
            </a:extLst>
          </p:cNvPr>
          <p:cNvSpPr>
            <a:spLocks noGrp="1"/>
          </p:cNvSpPr>
          <p:nvPr>
            <p:ph idx="1"/>
          </p:nvPr>
        </p:nvSpPr>
        <p:spPr>
          <a:xfrm>
            <a:off x="838200" y="252591"/>
            <a:ext cx="10515600" cy="6352818"/>
          </a:xfrm>
        </p:spPr>
        <p:txBody>
          <a:bodyPr>
            <a:noAutofit/>
          </a:bodyPr>
          <a:lstStyle/>
          <a:p>
            <a:pPr marL="0" indent="0">
              <a:buNone/>
            </a:pPr>
            <a:r>
              <a:rPr lang="en-US" sz="2600" dirty="0"/>
              <a:t>Whether it is gout or not, you recommend contacting the team physician to get medicine and an additional person to consult. </a:t>
            </a:r>
          </a:p>
          <a:p>
            <a:pPr marL="0" indent="0">
              <a:buNone/>
            </a:pPr>
            <a:endParaRPr lang="en-US" sz="2600" dirty="0"/>
          </a:p>
          <a:p>
            <a:pPr marL="0" indent="0">
              <a:buNone/>
            </a:pPr>
            <a:r>
              <a:rPr lang="en-US" sz="2600" dirty="0"/>
              <a:t>Keola agrees but reiterates that seeing a doctor for this is not the preference. </a:t>
            </a:r>
          </a:p>
          <a:p>
            <a:pPr marL="0" indent="0">
              <a:buNone/>
            </a:pPr>
            <a:r>
              <a:rPr lang="en-US" sz="2600" dirty="0"/>
              <a:t>Keola asks if you know whether the family’s insurance gets billed before the university's insurance. </a:t>
            </a:r>
          </a:p>
          <a:p>
            <a:pPr marL="0" indent="0">
              <a:buNone/>
            </a:pPr>
            <a:endParaRPr lang="en-US" sz="2600" dirty="0"/>
          </a:p>
          <a:p>
            <a:pPr marL="0" indent="0">
              <a:buNone/>
            </a:pPr>
            <a:r>
              <a:rPr lang="en-US" sz="2600" dirty="0"/>
              <a:t>And ends with, “What do you think of home remedies? Can you get me that stuff, the cherry juice and such? I mean the medical system was not designed for a person like me.” </a:t>
            </a:r>
          </a:p>
          <a:p>
            <a:pPr marL="0" indent="0">
              <a:buNone/>
            </a:pPr>
            <a:endParaRPr lang="en-US" sz="2600" dirty="0"/>
          </a:p>
          <a:p>
            <a:pPr marL="0" indent="0">
              <a:buNone/>
            </a:pPr>
            <a:r>
              <a:rPr lang="en-US" sz="2600" dirty="0"/>
              <a:t>In typical Keola fashion, she provides evidence to support her belief about the medical system not being for her by emailing information on gout. </a:t>
            </a:r>
          </a:p>
        </p:txBody>
      </p:sp>
    </p:spTree>
    <p:extLst>
      <p:ext uri="{BB962C8B-B14F-4D97-AF65-F5344CB8AC3E}">
        <p14:creationId xmlns:p14="http://schemas.microsoft.com/office/powerpoint/2010/main" val="1496249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455E5-6CE2-F4F6-57FB-E339698A1F2B}"/>
              </a:ext>
            </a:extLst>
          </p:cNvPr>
          <p:cNvSpPr>
            <a:spLocks noGrp="1"/>
          </p:cNvSpPr>
          <p:nvPr>
            <p:ph type="title"/>
          </p:nvPr>
        </p:nvSpPr>
        <p:spPr/>
        <p:txBody>
          <a:bodyPr/>
          <a:lstStyle/>
          <a:p>
            <a:pPr algn="ctr"/>
            <a:r>
              <a:rPr lang="en-US" dirty="0"/>
              <a:t>“I will call you after I speak to the doctor.”</a:t>
            </a:r>
          </a:p>
        </p:txBody>
      </p:sp>
      <p:sp>
        <p:nvSpPr>
          <p:cNvPr id="3" name="Content Placeholder 2">
            <a:extLst>
              <a:ext uri="{FF2B5EF4-FFF2-40B4-BE49-F238E27FC236}">
                <a16:creationId xmlns:a16="http://schemas.microsoft.com/office/drawing/2014/main" id="{49ECA83E-FEB5-6018-AF1D-2960644C8A24}"/>
              </a:ext>
            </a:extLst>
          </p:cNvPr>
          <p:cNvSpPr>
            <a:spLocks noGrp="1"/>
          </p:cNvSpPr>
          <p:nvPr>
            <p:ph idx="1"/>
          </p:nvPr>
        </p:nvSpPr>
        <p:spPr/>
        <p:txBody>
          <a:bodyPr>
            <a:normAutofit fontScale="85000" lnSpcReduction="20000"/>
          </a:bodyPr>
          <a:lstStyle/>
          <a:p>
            <a:pPr marL="0" indent="0">
              <a:buNone/>
            </a:pPr>
            <a:r>
              <a:rPr lang="en-US" sz="3000" dirty="0"/>
              <a:t>You quickly read the email before calling:</a:t>
            </a:r>
          </a:p>
          <a:p>
            <a:pPr marL="0" indent="0">
              <a:buNone/>
            </a:pPr>
            <a:endParaRPr lang="en-US" sz="3000" dirty="0"/>
          </a:p>
          <a:p>
            <a:pPr marL="0" indent="0">
              <a:buNone/>
            </a:pPr>
            <a:r>
              <a:rPr lang="en-US" sz="3000" dirty="0">
                <a:highlight>
                  <a:srgbClr val="FFFFFF"/>
                </a:highlight>
                <a:cs typeface="Times New Roman" panose="02020603050405020304" pitchFamily="18" charset="0"/>
              </a:rPr>
              <a:t>The lack of research in African Americans with gout, a racial group with higher disease prevalence and burden of gout than Caucasians (5% vs. 4% in the United States), is concerning [</a:t>
            </a:r>
            <a:r>
              <a:rPr lang="en-US" sz="3000" u="sng" dirty="0">
                <a:highlight>
                  <a:srgbClr val="FFFFFF"/>
                </a:highlight>
                <a:cs typeface="Times New Roman" panose="02020603050405020304" pitchFamily="18" charset="0"/>
                <a:hlinkClick r:id="rId2"/>
              </a:rPr>
              <a:t>1</a:t>
            </a:r>
            <a:r>
              <a:rPr lang="en-US" sz="3000" dirty="0">
                <a:highlight>
                  <a:srgbClr val="FFFFFF"/>
                </a:highlight>
                <a:cs typeface="Times New Roman" panose="02020603050405020304" pitchFamily="18" charset="0"/>
              </a:rPr>
              <a:t>]. Although gout is not as common as it is in men, the prevalence is 2 percent in US adult women [</a:t>
            </a:r>
            <a:r>
              <a:rPr lang="en-US" sz="3000" u="sng" dirty="0">
                <a:highlight>
                  <a:srgbClr val="FFFFFF"/>
                </a:highlight>
                <a:cs typeface="Times New Roman" panose="02020603050405020304" pitchFamily="18" charset="0"/>
                <a:hlinkClick r:id="rId2"/>
              </a:rPr>
              <a:t>1</a:t>
            </a:r>
            <a:r>
              <a:rPr lang="en-US" sz="3000" dirty="0">
                <a:highlight>
                  <a:srgbClr val="FFFFFF"/>
                </a:highlight>
                <a:cs typeface="Times New Roman" panose="02020603050405020304" pitchFamily="18" charset="0"/>
              </a:rPr>
              <a:t>], twice that of rheumatoid arthritis at 1 percent [</a:t>
            </a:r>
            <a:r>
              <a:rPr lang="en-US" sz="3000" u="sng" dirty="0">
                <a:highlight>
                  <a:srgbClr val="FFFFFF"/>
                </a:highlight>
                <a:cs typeface="Times New Roman" panose="02020603050405020304" pitchFamily="18" charset="0"/>
                <a:hlinkClick r:id="rId3"/>
              </a:rPr>
              <a:t>27</a:t>
            </a:r>
            <a:r>
              <a:rPr lang="en-US" sz="3000" dirty="0">
                <a:highlight>
                  <a:srgbClr val="FFFFFF"/>
                </a:highlight>
                <a:cs typeface="Times New Roman" panose="02020603050405020304" pitchFamily="18" charset="0"/>
              </a:rPr>
              <a:t>]. A literature search using the same terms (quality of life, women) found eight publications on gout (none with original data, none relevant) versus 213 publications on rheumatoid arthritis, indicating the lack of recognition of the impact of gout on women.</a:t>
            </a:r>
            <a:endParaRPr lang="en-US" sz="3000" dirty="0">
              <a:cs typeface="Times New Roman" panose="02020603050405020304" pitchFamily="18" charset="0"/>
            </a:endParaRPr>
          </a:p>
          <a:p>
            <a:pPr marL="0" indent="0">
              <a:buNone/>
            </a:pPr>
            <a:endParaRPr lang="en-US" dirty="0"/>
          </a:p>
          <a:p>
            <a:pPr marL="0" indent="0">
              <a:buNone/>
            </a:pPr>
            <a:r>
              <a:rPr lang="en-US" sz="2400" i="1" dirty="0"/>
              <a:t>"The impact of gout on patient's lives: a study of African-American and Caucasian men and women with gout"</a:t>
            </a:r>
            <a:r>
              <a:rPr lang="en-US" sz="2400" dirty="0"/>
              <a:t> by Jasvinder A. Singh, published in </a:t>
            </a:r>
            <a:r>
              <a:rPr lang="en-US" sz="2400" i="1" dirty="0"/>
              <a:t>Arthritis Research &amp; Therapy</a:t>
            </a:r>
            <a:r>
              <a:rPr lang="en-US" sz="2400" dirty="0"/>
              <a:t> in 2014.</a:t>
            </a:r>
          </a:p>
          <a:p>
            <a:pPr marL="0" indent="0">
              <a:buNone/>
            </a:pPr>
            <a:endParaRPr lang="en-US" dirty="0"/>
          </a:p>
        </p:txBody>
      </p:sp>
    </p:spTree>
    <p:extLst>
      <p:ext uri="{BB962C8B-B14F-4D97-AF65-F5344CB8AC3E}">
        <p14:creationId xmlns:p14="http://schemas.microsoft.com/office/powerpoint/2010/main" val="3445971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D83973-576E-ABA2-9387-CC4BB36B1167}"/>
              </a:ext>
            </a:extLst>
          </p:cNvPr>
          <p:cNvSpPr>
            <a:spLocks noGrp="1"/>
          </p:cNvSpPr>
          <p:nvPr>
            <p:ph idx="1"/>
          </p:nvPr>
        </p:nvSpPr>
        <p:spPr>
          <a:xfrm>
            <a:off x="838200" y="877751"/>
            <a:ext cx="10515600" cy="5102499"/>
          </a:xfrm>
        </p:spPr>
        <p:txBody>
          <a:bodyPr>
            <a:noAutofit/>
          </a:bodyPr>
          <a:lstStyle/>
          <a:p>
            <a:pPr marL="0" indent="0">
              <a:buNone/>
            </a:pPr>
            <a:r>
              <a:rPr lang="en-US" dirty="0"/>
              <a:t>How important is it to know the participant demographics of the research we are reading? (Was it only done on males, on healthy individuals, young people, or one racial group?)</a:t>
            </a:r>
          </a:p>
          <a:p>
            <a:pPr marL="0" indent="0">
              <a:buNone/>
            </a:pPr>
            <a:endParaRPr lang="en-US" dirty="0"/>
          </a:p>
          <a:p>
            <a:pPr marL="0" indent="0">
              <a:buNone/>
            </a:pPr>
            <a:r>
              <a:rPr lang="en-US" dirty="0"/>
              <a:t>How important is it to know the perspective of our patients?</a:t>
            </a:r>
          </a:p>
          <a:p>
            <a:pPr marL="0" indent="0">
              <a:buNone/>
            </a:pPr>
            <a:endParaRPr lang="en-US" dirty="0"/>
          </a:p>
          <a:p>
            <a:pPr marL="0" indent="0">
              <a:buNone/>
            </a:pPr>
            <a:r>
              <a:rPr lang="en-US" dirty="0"/>
              <a:t>While only Keola can describe to us her choices, do some of them make sense based on her experience and knowledge?</a:t>
            </a:r>
          </a:p>
          <a:p>
            <a:pPr marL="0" indent="0">
              <a:buNone/>
            </a:pPr>
            <a:endParaRPr lang="en-US" dirty="0"/>
          </a:p>
          <a:p>
            <a:pPr marL="0" indent="0">
              <a:buNone/>
            </a:pPr>
            <a:r>
              <a:rPr lang="en-US" dirty="0"/>
              <a:t>What can we do to ensure we are treating Keola with the dignity and respect that all patients deserve?</a:t>
            </a:r>
          </a:p>
        </p:txBody>
      </p:sp>
    </p:spTree>
    <p:extLst>
      <p:ext uri="{BB962C8B-B14F-4D97-AF65-F5344CB8AC3E}">
        <p14:creationId xmlns:p14="http://schemas.microsoft.com/office/powerpoint/2010/main" val="3862135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9B24-3819-5F69-5DC4-9C29A5389774}"/>
              </a:ext>
            </a:extLst>
          </p:cNvPr>
          <p:cNvSpPr>
            <a:spLocks noGrp="1"/>
          </p:cNvSpPr>
          <p:nvPr>
            <p:ph type="title"/>
          </p:nvPr>
        </p:nvSpPr>
        <p:spPr>
          <a:xfrm>
            <a:off x="1028700" y="365125"/>
            <a:ext cx="10134600" cy="1325563"/>
          </a:xfrm>
        </p:spPr>
        <p:txBody>
          <a:bodyPr/>
          <a:lstStyle/>
          <a:p>
            <a:r>
              <a:rPr lang="en-US" dirty="0"/>
              <a:t>What Are You Going to Say to the Physician?</a:t>
            </a:r>
          </a:p>
        </p:txBody>
      </p:sp>
    </p:spTree>
    <p:extLst>
      <p:ext uri="{BB962C8B-B14F-4D97-AF65-F5344CB8AC3E}">
        <p14:creationId xmlns:p14="http://schemas.microsoft.com/office/powerpoint/2010/main" val="3818214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DCC3-854A-1474-225A-1488DAEBD1E5}"/>
              </a:ext>
            </a:extLst>
          </p:cNvPr>
          <p:cNvSpPr>
            <a:spLocks noGrp="1"/>
          </p:cNvSpPr>
          <p:nvPr>
            <p:ph type="title"/>
          </p:nvPr>
        </p:nvSpPr>
        <p:spPr>
          <a:xfrm>
            <a:off x="3719435" y="365125"/>
            <a:ext cx="4753131" cy="1325563"/>
          </a:xfrm>
        </p:spPr>
        <p:txBody>
          <a:bodyPr/>
          <a:lstStyle/>
          <a:p>
            <a:r>
              <a:rPr lang="en-US" dirty="0"/>
              <a:t>Physician Response</a:t>
            </a:r>
          </a:p>
        </p:txBody>
      </p:sp>
      <p:sp>
        <p:nvSpPr>
          <p:cNvPr id="4" name="Content Placeholder 2">
            <a:extLst>
              <a:ext uri="{FF2B5EF4-FFF2-40B4-BE49-F238E27FC236}">
                <a16:creationId xmlns:a16="http://schemas.microsoft.com/office/drawing/2014/main" id="{1E4FFA7B-81CF-7C7A-1F12-7C4651F945D5}"/>
              </a:ext>
            </a:extLst>
          </p:cNvPr>
          <p:cNvSpPr>
            <a:spLocks noGrp="1"/>
          </p:cNvSpPr>
          <p:nvPr>
            <p:ph idx="1"/>
          </p:nvPr>
        </p:nvSpPr>
        <p:spPr>
          <a:xfrm>
            <a:off x="838200" y="1987403"/>
            <a:ext cx="10882745" cy="3828781"/>
          </a:xfrm>
        </p:spPr>
        <p:txBody>
          <a:bodyPr>
            <a:normAutofit/>
          </a:bodyPr>
          <a:lstStyle/>
          <a:p>
            <a:pPr marL="0" indent="0">
              <a:buNone/>
            </a:pPr>
            <a:r>
              <a:rPr lang="en-US" dirty="0"/>
              <a:t>The physician recommends that Keola be seen by a provider. Keola is young for gout, and this would be her first flare-up. However, the physician recommends some medications that are not harmful. “If Keola is unwilling to see a provider, Keola can start with these (colchicine, ibuprofen, acetaminophen, </a:t>
            </a:r>
            <a:r>
              <a:rPr lang="en-US" dirty="0" err="1"/>
              <a:t>ketoralac</a:t>
            </a:r>
            <a:r>
              <a:rPr lang="en-US" dirty="0"/>
              <a:t>), and yes, you can give Keola the other remedies as well. Of course, when you return to campus, I would like to see her.” </a:t>
            </a:r>
          </a:p>
          <a:p>
            <a:pPr marL="0" indent="0">
              <a:buNone/>
            </a:pPr>
            <a:endParaRPr lang="en-US" dirty="0"/>
          </a:p>
          <a:p>
            <a:pPr marL="0" indent="0">
              <a:buNone/>
            </a:pPr>
            <a:r>
              <a:rPr lang="en-US" dirty="0"/>
              <a:t>Keola agrees to take both the prescribed and home remedy medicine.</a:t>
            </a:r>
          </a:p>
        </p:txBody>
      </p:sp>
    </p:spTree>
    <p:extLst>
      <p:ext uri="{BB962C8B-B14F-4D97-AF65-F5344CB8AC3E}">
        <p14:creationId xmlns:p14="http://schemas.microsoft.com/office/powerpoint/2010/main" val="3384779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797E-DC51-EDE9-4E1F-83ACE57A165F}"/>
              </a:ext>
            </a:extLst>
          </p:cNvPr>
          <p:cNvSpPr>
            <a:spLocks noGrp="1"/>
          </p:cNvSpPr>
          <p:nvPr>
            <p:ph idx="1"/>
          </p:nvPr>
        </p:nvSpPr>
        <p:spPr>
          <a:xfrm>
            <a:off x="838200" y="2490528"/>
            <a:ext cx="10515600" cy="1876945"/>
          </a:xfrm>
        </p:spPr>
        <p:txBody>
          <a:bodyPr>
            <a:normAutofit lnSpcReduction="10000"/>
          </a:bodyPr>
          <a:lstStyle/>
          <a:p>
            <a:pPr marL="0" indent="0">
              <a:buNone/>
            </a:pPr>
            <a:r>
              <a:rPr lang="en-US" dirty="0"/>
              <a:t>What does the pharmacist think about all these things? </a:t>
            </a:r>
          </a:p>
          <a:p>
            <a:pPr marL="0" indent="0">
              <a:buNone/>
            </a:pPr>
            <a:endParaRPr lang="en-US" dirty="0"/>
          </a:p>
          <a:p>
            <a:pPr marL="0" indent="0">
              <a:buNone/>
            </a:pPr>
            <a:r>
              <a:rPr lang="en-US" dirty="0"/>
              <a:t>With her new medications, her old medications, and home remedies, what are some possible interactions or side effects?</a:t>
            </a:r>
          </a:p>
          <a:p>
            <a:pPr marL="0" indent="0">
              <a:buNone/>
            </a:pPr>
            <a:endParaRPr lang="en-US" dirty="0"/>
          </a:p>
        </p:txBody>
      </p:sp>
    </p:spTree>
    <p:extLst>
      <p:ext uri="{BB962C8B-B14F-4D97-AF65-F5344CB8AC3E}">
        <p14:creationId xmlns:p14="http://schemas.microsoft.com/office/powerpoint/2010/main" val="4155555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5A89-9C07-BBDB-8E73-35B59D5F6E30}"/>
              </a:ext>
            </a:extLst>
          </p:cNvPr>
          <p:cNvSpPr>
            <a:spLocks noGrp="1"/>
          </p:cNvSpPr>
          <p:nvPr>
            <p:ph type="title"/>
          </p:nvPr>
        </p:nvSpPr>
        <p:spPr>
          <a:xfrm>
            <a:off x="741218" y="254289"/>
            <a:ext cx="10515600" cy="1319678"/>
          </a:xfrm>
        </p:spPr>
        <p:txBody>
          <a:bodyPr>
            <a:normAutofit/>
          </a:bodyPr>
          <a:lstStyle/>
          <a:p>
            <a:pPr algn="ctr"/>
            <a:r>
              <a:rPr lang="en-US" dirty="0"/>
              <a:t>Day 2: Next Morning at 7:00 a.m.—Game Day</a:t>
            </a:r>
          </a:p>
        </p:txBody>
      </p:sp>
      <p:sp>
        <p:nvSpPr>
          <p:cNvPr id="4" name="TextBox 3">
            <a:extLst>
              <a:ext uri="{FF2B5EF4-FFF2-40B4-BE49-F238E27FC236}">
                <a16:creationId xmlns:a16="http://schemas.microsoft.com/office/drawing/2014/main" id="{68000E94-573F-AE6F-1A32-296C2F029DA3}"/>
              </a:ext>
            </a:extLst>
          </p:cNvPr>
          <p:cNvSpPr txBox="1"/>
          <p:nvPr/>
        </p:nvSpPr>
        <p:spPr>
          <a:xfrm>
            <a:off x="741218" y="1573967"/>
            <a:ext cx="10855036" cy="4862870"/>
          </a:xfrm>
          <a:prstGeom prst="rect">
            <a:avLst/>
          </a:prstGeom>
          <a:noFill/>
        </p:spPr>
        <p:txBody>
          <a:bodyPr wrap="square">
            <a:spAutoFit/>
          </a:bodyPr>
          <a:lstStyle/>
          <a:p>
            <a:r>
              <a:rPr lang="en-US" sz="2600" dirty="0"/>
              <a:t>Keola says, “I feel worse. These medicines do not work.” </a:t>
            </a:r>
          </a:p>
          <a:p>
            <a:endParaRPr lang="en-US" sz="2600" dirty="0">
              <a:ea typeface="Calibri" panose="020F0502020204030204" pitchFamily="34" charset="0"/>
              <a:cs typeface="Times New Roman" panose="02020603050405020304" pitchFamily="18" charset="0"/>
            </a:endParaRPr>
          </a:p>
          <a:p>
            <a:r>
              <a:rPr lang="en-US" sz="2600" dirty="0">
                <a:ea typeface="Calibri" panose="020F0502020204030204" pitchFamily="34" charset="0"/>
                <a:cs typeface="Times New Roman" panose="02020603050405020304" pitchFamily="18" charset="0"/>
              </a:rPr>
              <a:t>Keola now</a:t>
            </a:r>
            <a:r>
              <a:rPr lang="en-US" sz="2600" dirty="0">
                <a:effectLst/>
                <a:ea typeface="Calibri" panose="020F0502020204030204" pitchFamily="34" charset="0"/>
                <a:cs typeface="Times New Roman" panose="02020603050405020304" pitchFamily="18" charset="0"/>
              </a:rPr>
              <a:t> has </a:t>
            </a:r>
            <a:r>
              <a:rPr lang="en-US" sz="2600" dirty="0">
                <a:ea typeface="Calibri" panose="020F0502020204030204" pitchFamily="34" charset="0"/>
                <a:cs typeface="Times New Roman" panose="02020603050405020304" pitchFamily="18" charset="0"/>
              </a:rPr>
              <a:t>wrist </a:t>
            </a:r>
            <a:r>
              <a:rPr lang="en-US" sz="2600" dirty="0">
                <a:effectLst/>
                <a:ea typeface="Calibri" panose="020F0502020204030204" pitchFamily="34" charset="0"/>
                <a:cs typeface="Times New Roman" panose="02020603050405020304" pitchFamily="18" charset="0"/>
              </a:rPr>
              <a:t>pain and swelling. </a:t>
            </a:r>
          </a:p>
          <a:p>
            <a:r>
              <a:rPr lang="en-US" sz="2600" dirty="0">
                <a:ea typeface="Calibri" panose="020F0502020204030204" pitchFamily="34" charset="0"/>
                <a:cs typeface="Times New Roman" panose="02020603050405020304" pitchFamily="18" charset="0"/>
              </a:rPr>
              <a:t>N</a:t>
            </a:r>
            <a:r>
              <a:rPr lang="en-US" sz="2600" dirty="0">
                <a:effectLst/>
                <a:ea typeface="Calibri" panose="020F0502020204030204" pitchFamily="34" charset="0"/>
                <a:cs typeface="Times New Roman" panose="02020603050405020304" pitchFamily="18" charset="0"/>
              </a:rPr>
              <a:t>o change or improvement in ankle.</a:t>
            </a:r>
          </a:p>
          <a:p>
            <a:r>
              <a:rPr lang="en-US" sz="2600" dirty="0">
                <a:ea typeface="Calibri" panose="020F0502020204030204" pitchFamily="34" charset="0"/>
                <a:cs typeface="Times New Roman" panose="02020603050405020304" pitchFamily="18" charset="0"/>
              </a:rPr>
              <a:t>Keola now reports having diarrhea.</a:t>
            </a:r>
          </a:p>
          <a:p>
            <a:r>
              <a:rPr lang="en-US" sz="2600" dirty="0">
                <a:ea typeface="Calibri" panose="020F0502020204030204" pitchFamily="34" charset="0"/>
                <a:cs typeface="Times New Roman" panose="02020603050405020304" pitchFamily="18" charset="0"/>
              </a:rPr>
              <a:t>Keola</a:t>
            </a:r>
            <a:r>
              <a:rPr lang="en-US" sz="2600" dirty="0">
                <a:effectLst/>
                <a:ea typeface="Calibri" panose="020F0502020204030204" pitchFamily="34" charset="0"/>
                <a:cs typeface="Times New Roman" panose="02020603050405020304" pitchFamily="18" charset="0"/>
              </a:rPr>
              <a:t> now has a </a:t>
            </a:r>
            <a:r>
              <a:rPr lang="en-US" sz="2600" dirty="0">
                <a:ea typeface="Calibri" panose="020F0502020204030204" pitchFamily="34" charset="0"/>
                <a:cs typeface="Times New Roman" panose="02020603050405020304" pitchFamily="18" charset="0"/>
              </a:rPr>
              <a:t>headache and her temperature remains.</a:t>
            </a:r>
            <a:endParaRPr lang="en-US" sz="2600" dirty="0">
              <a:effectLst/>
              <a:ea typeface="Calibri" panose="020F0502020204030204" pitchFamily="34" charset="0"/>
              <a:cs typeface="Times New Roman" panose="02020603050405020304" pitchFamily="18" charset="0"/>
            </a:endParaRPr>
          </a:p>
          <a:p>
            <a:endParaRPr lang="en-US" sz="2600" dirty="0">
              <a:effectLst/>
              <a:cs typeface="Times New Roman" panose="02020603050405020304" pitchFamily="18" charset="0"/>
            </a:endParaRPr>
          </a:p>
          <a:p>
            <a:r>
              <a:rPr lang="en-US" sz="2600" dirty="0">
                <a:effectLst/>
                <a:cs typeface="Times New Roman" panose="02020603050405020304" pitchFamily="18" charset="0"/>
              </a:rPr>
              <a:t>My dad said, “This is exactly what it feels like and how it worked on me.”</a:t>
            </a:r>
          </a:p>
          <a:p>
            <a:endParaRPr lang="en-US" sz="2600" dirty="0">
              <a:effectLst/>
              <a:cs typeface="Times New Roman" panose="02020603050405020304" pitchFamily="18" charset="0"/>
            </a:endParaRPr>
          </a:p>
          <a:p>
            <a:pPr marL="0">
              <a:spcBef>
                <a:spcPts val="0"/>
              </a:spcBef>
            </a:pPr>
            <a:r>
              <a:rPr lang="en-US" sz="2600" kern="100" dirty="0">
                <a:effectLst/>
                <a:ea typeface="Calibri" panose="020F0502020204030204" pitchFamily="34" charset="0"/>
                <a:cs typeface="Times New Roman" panose="02020603050405020304" pitchFamily="18" charset="0"/>
              </a:rPr>
              <a:t>Keola has never been officially diagnosed by a doctor. </a:t>
            </a:r>
            <a:r>
              <a:rPr lang="en-US" sz="2600" kern="100" dirty="0">
                <a:ea typeface="Calibri" panose="020F0502020204030204" pitchFamily="34" charset="0"/>
                <a:cs typeface="Times New Roman" panose="02020603050405020304" pitchFamily="18" charset="0"/>
              </a:rPr>
              <a:t>Keola’s</a:t>
            </a:r>
            <a:r>
              <a:rPr lang="en-US" sz="2600" kern="100" dirty="0">
                <a:effectLst/>
                <a:ea typeface="Calibri" panose="020F0502020204030204" pitchFamily="34" charset="0"/>
                <a:cs typeface="Times New Roman" panose="02020603050405020304" pitchFamily="18" charset="0"/>
              </a:rPr>
              <a:t> father has been diagnosed.</a:t>
            </a:r>
          </a:p>
          <a:p>
            <a:r>
              <a:rPr lang="en-US" sz="2400" dirty="0">
                <a:effectLst/>
                <a:latin typeface="Calibri" panose="020F0502020204030204" pitchFamily="34" charset="0"/>
                <a:cs typeface="Times New Roman" panose="02020603050405020304" pitchFamily="18" charset="0"/>
              </a:rPr>
              <a:t> </a:t>
            </a:r>
            <a:endParaRPr lang="en-US" sz="2400" dirty="0"/>
          </a:p>
        </p:txBody>
      </p:sp>
    </p:spTree>
    <p:extLst>
      <p:ext uri="{BB962C8B-B14F-4D97-AF65-F5344CB8AC3E}">
        <p14:creationId xmlns:p14="http://schemas.microsoft.com/office/powerpoint/2010/main" val="787240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1A7515-CFE5-C443-F2D6-C4BA77240F43}"/>
              </a:ext>
            </a:extLst>
          </p:cNvPr>
          <p:cNvSpPr>
            <a:spLocks noGrp="1"/>
          </p:cNvSpPr>
          <p:nvPr>
            <p:ph idx="1"/>
          </p:nvPr>
        </p:nvSpPr>
        <p:spPr>
          <a:xfrm>
            <a:off x="838200" y="2153249"/>
            <a:ext cx="10515600" cy="2551503"/>
          </a:xfrm>
        </p:spPr>
        <p:txBody>
          <a:bodyPr/>
          <a:lstStyle/>
          <a:p>
            <a:pPr marL="0" indent="0">
              <a:buNone/>
            </a:pPr>
            <a:r>
              <a:rPr lang="en-US" dirty="0"/>
              <a:t>How do we convince Keola to see another provider?</a:t>
            </a:r>
          </a:p>
          <a:p>
            <a:pPr marL="0" indent="0">
              <a:buNone/>
            </a:pPr>
            <a:endParaRPr lang="en-US" dirty="0"/>
          </a:p>
          <a:p>
            <a:pPr marL="0" indent="0">
              <a:buNone/>
            </a:pPr>
            <a:r>
              <a:rPr lang="en-US" dirty="0"/>
              <a:t>Why is further testing important?</a:t>
            </a:r>
          </a:p>
          <a:p>
            <a:pPr marL="0" indent="0">
              <a:buNone/>
            </a:pPr>
            <a:endParaRPr lang="en-US" dirty="0"/>
          </a:p>
          <a:p>
            <a:pPr marL="0" indent="0">
              <a:buNone/>
            </a:pPr>
            <a:r>
              <a:rPr lang="en-US" dirty="0"/>
              <a:t>What testing should Keola get? </a:t>
            </a:r>
          </a:p>
          <a:p>
            <a:pPr marL="0" indent="0">
              <a:buNone/>
            </a:pPr>
            <a:endParaRPr lang="en-US" dirty="0"/>
          </a:p>
        </p:txBody>
      </p:sp>
    </p:spTree>
    <p:extLst>
      <p:ext uri="{BB962C8B-B14F-4D97-AF65-F5344CB8AC3E}">
        <p14:creationId xmlns:p14="http://schemas.microsoft.com/office/powerpoint/2010/main" val="4129428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6447-5893-AE53-9C79-72C344339F3D}"/>
              </a:ext>
            </a:extLst>
          </p:cNvPr>
          <p:cNvSpPr>
            <a:spLocks noGrp="1"/>
          </p:cNvSpPr>
          <p:nvPr>
            <p:ph type="title"/>
          </p:nvPr>
        </p:nvSpPr>
        <p:spPr/>
        <p:txBody>
          <a:bodyPr>
            <a:normAutofit/>
          </a:bodyPr>
          <a:lstStyle/>
          <a:p>
            <a:pPr algn="ctr"/>
            <a:r>
              <a:rPr lang="en-US" sz="3200" dirty="0"/>
              <a:t>You convince Keola to get blood work and urinalysis</a:t>
            </a:r>
          </a:p>
        </p:txBody>
      </p:sp>
      <p:sp>
        <p:nvSpPr>
          <p:cNvPr id="3" name="Content Placeholder 2">
            <a:extLst>
              <a:ext uri="{FF2B5EF4-FFF2-40B4-BE49-F238E27FC236}">
                <a16:creationId xmlns:a16="http://schemas.microsoft.com/office/drawing/2014/main" id="{DF22DF52-7633-7991-F950-5979E0A6AA09}"/>
              </a:ext>
            </a:extLst>
          </p:cNvPr>
          <p:cNvSpPr>
            <a:spLocks noGrp="1"/>
          </p:cNvSpPr>
          <p:nvPr>
            <p:ph idx="1"/>
          </p:nvPr>
        </p:nvSpPr>
        <p:spPr>
          <a:xfrm>
            <a:off x="2282536" y="1811770"/>
            <a:ext cx="7626927" cy="1325563"/>
          </a:xfrm>
        </p:spPr>
        <p:txBody>
          <a:bodyPr/>
          <a:lstStyle/>
          <a:p>
            <a:pPr marL="0" indent="0" algn="ctr">
              <a:spcBef>
                <a:spcPts val="0"/>
              </a:spcBef>
              <a:buNone/>
              <a:tabLst>
                <a:tab pos="457200" algn="l"/>
              </a:tabLst>
            </a:pPr>
            <a:r>
              <a:rPr lang="en-US" b="1" u="sng" dirty="0">
                <a:latin typeface="Times New Roman" panose="02020603050405020304" pitchFamily="18" charset="0"/>
                <a:ea typeface="Times New Roman" panose="02020603050405020304" pitchFamily="18" charset="0"/>
                <a:cs typeface="Times New Roman" panose="02020603050405020304" pitchFamily="18" charset="0"/>
              </a:rPr>
              <a:t>BLOOD WORK AND URINALYSIS</a:t>
            </a:r>
          </a:p>
          <a:p>
            <a:pPr marL="1200150" lvl="2" indent="-285750">
              <a:spcBef>
                <a:spcPts val="0"/>
              </a:spcBef>
              <a:buFont typeface="Gill Sans" panose="020B0502020104020203" pitchFamily="34" charset="-79"/>
              <a:buChar char="•"/>
              <a:tabLst>
                <a:tab pos="914400" algn="l"/>
              </a:tabLst>
            </a:pPr>
            <a:r>
              <a:rPr lang="en-US" sz="28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INFECTION!!! (Cellulitis)</a:t>
            </a:r>
          </a:p>
          <a:p>
            <a:pPr marL="1200150" lvl="2" indent="-285750">
              <a:spcBef>
                <a:spcPts val="0"/>
              </a:spcBef>
              <a:buFont typeface="Gill Sans" panose="020B0502020104020203" pitchFamily="34" charset="-79"/>
              <a:buChar char="•"/>
              <a:tabLst>
                <a:tab pos="914400" algn="l"/>
              </a:tabLst>
            </a:pPr>
            <a:r>
              <a:rPr lang="en-US" sz="28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MRI confirmed </a:t>
            </a:r>
            <a:r>
              <a:rPr lang="en-US"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cellulitis</a:t>
            </a:r>
          </a:p>
          <a:p>
            <a:pPr marL="0" indent="0">
              <a:buNone/>
            </a:pPr>
            <a:endParaRPr lang="en-US" dirty="0"/>
          </a:p>
        </p:txBody>
      </p:sp>
    </p:spTree>
    <p:extLst>
      <p:ext uri="{BB962C8B-B14F-4D97-AF65-F5344CB8AC3E}">
        <p14:creationId xmlns:p14="http://schemas.microsoft.com/office/powerpoint/2010/main" val="1026431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ED78C-E4BD-0AD3-9A3B-9093579AC0D7}"/>
              </a:ext>
            </a:extLst>
          </p:cNvPr>
          <p:cNvSpPr>
            <a:spLocks noGrp="1"/>
          </p:cNvSpPr>
          <p:nvPr>
            <p:ph idx="1"/>
          </p:nvPr>
        </p:nvSpPr>
        <p:spPr>
          <a:xfrm>
            <a:off x="838200" y="1059487"/>
            <a:ext cx="10515600" cy="4739027"/>
          </a:xfrm>
        </p:spPr>
        <p:txBody>
          <a:bodyPr>
            <a:normAutofit lnSpcReduction="10000"/>
          </a:bodyPr>
          <a:lstStyle/>
          <a:p>
            <a:pPr marL="0" indent="0">
              <a:buNone/>
            </a:pPr>
            <a:r>
              <a:rPr lang="en-US" dirty="0"/>
              <a:t>How do we feel about it not being a lateral ankle sprain, gout, the flu, and that we struggled to help her quickly?</a:t>
            </a:r>
          </a:p>
          <a:p>
            <a:pPr marL="0" indent="0">
              <a:buNone/>
            </a:pPr>
            <a:endParaRPr lang="en-US" dirty="0"/>
          </a:p>
          <a:p>
            <a:pPr marL="0" indent="0">
              <a:buNone/>
            </a:pPr>
            <a:r>
              <a:rPr lang="en-US" dirty="0"/>
              <a:t>From the provider’s perspective and Keola’s perspective, what were the </a:t>
            </a:r>
            <a:r>
              <a:rPr lang="en-US" b="1" dirty="0"/>
              <a:t>barriers</a:t>
            </a:r>
            <a:r>
              <a:rPr lang="en-US" dirty="0"/>
              <a:t> to efficient and effective health care?</a:t>
            </a:r>
          </a:p>
          <a:p>
            <a:pPr marL="0" indent="0">
              <a:buNone/>
            </a:pPr>
            <a:endParaRPr lang="en-US" dirty="0"/>
          </a:p>
          <a:p>
            <a:pPr marL="0" indent="0">
              <a:buNone/>
            </a:pPr>
            <a:r>
              <a:rPr lang="en-US" dirty="0"/>
              <a:t>From the provider’s perspective and Keola’s perspective, what were the </a:t>
            </a:r>
            <a:r>
              <a:rPr lang="en-US" b="1" dirty="0"/>
              <a:t>facilitators</a:t>
            </a:r>
            <a:r>
              <a:rPr lang="en-US" dirty="0"/>
              <a:t> to efficient and effective health care?</a:t>
            </a:r>
          </a:p>
          <a:p>
            <a:pPr marL="0" indent="0">
              <a:buNone/>
            </a:pPr>
            <a:endParaRPr lang="en-US" dirty="0"/>
          </a:p>
          <a:p>
            <a:pPr marL="0" indent="0">
              <a:buNone/>
            </a:pPr>
            <a:r>
              <a:rPr lang="en-US" dirty="0"/>
              <a:t>What can we do in the future to make this better for Keola, us, and everyone involved, or is this just how some things will go?</a:t>
            </a:r>
          </a:p>
          <a:p>
            <a:endParaRPr lang="en-US" dirty="0"/>
          </a:p>
        </p:txBody>
      </p:sp>
    </p:spTree>
    <p:extLst>
      <p:ext uri="{BB962C8B-B14F-4D97-AF65-F5344CB8AC3E}">
        <p14:creationId xmlns:p14="http://schemas.microsoft.com/office/powerpoint/2010/main" val="973704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668B2-9F92-F21B-E43C-72FE52361C6C}"/>
              </a:ext>
            </a:extLst>
          </p:cNvPr>
          <p:cNvSpPr>
            <a:spLocks noGrp="1"/>
          </p:cNvSpPr>
          <p:nvPr>
            <p:ph type="title"/>
          </p:nvPr>
        </p:nvSpPr>
        <p:spPr/>
        <p:txBody>
          <a:bodyPr/>
          <a:lstStyle/>
          <a:p>
            <a:pPr algn="ctr"/>
            <a:r>
              <a:rPr lang="en-US" dirty="0"/>
              <a:t>Health Care Power Wheel</a:t>
            </a:r>
          </a:p>
        </p:txBody>
      </p:sp>
      <p:sp>
        <p:nvSpPr>
          <p:cNvPr id="3" name="Content Placeholder 2">
            <a:extLst>
              <a:ext uri="{FF2B5EF4-FFF2-40B4-BE49-F238E27FC236}">
                <a16:creationId xmlns:a16="http://schemas.microsoft.com/office/drawing/2014/main" id="{ED48D0F0-E859-71A7-F327-CAE621126EF0}"/>
              </a:ext>
            </a:extLst>
          </p:cNvPr>
          <p:cNvSpPr>
            <a:spLocks noGrp="1"/>
          </p:cNvSpPr>
          <p:nvPr>
            <p:ph idx="1"/>
          </p:nvPr>
        </p:nvSpPr>
        <p:spPr/>
        <p:txBody>
          <a:bodyPr/>
          <a:lstStyle/>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1:</a:t>
            </a:r>
            <a:r>
              <a:rPr lang="en-US" kern="100" dirty="0">
                <a:ea typeface="Calibri" panose="020F0502020204030204" pitchFamily="34" charset="0"/>
                <a:cs typeface="Times New Roman" panose="02020603050405020304" pitchFamily="18" charset="0"/>
              </a:rPr>
              <a:t> As part of the preparation activities, you noted aspects of the wheel of power for yourself. Now, as a group, where appropriate, relabel each segment of the power wheel to make it either directly related to health care, or labeled specifically to athletic training. You will have four minutes to do this. </a:t>
            </a:r>
          </a:p>
          <a:p>
            <a:pPr marL="0" marR="0" indent="0">
              <a:spcBef>
                <a:spcPts val="0"/>
              </a:spcBef>
              <a:spcAft>
                <a:spcPts val="0"/>
              </a:spcAft>
              <a:buNone/>
            </a:pPr>
            <a:endParaRPr lang="en-US" kern="100" dirty="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2: </a:t>
            </a:r>
            <a:r>
              <a:rPr lang="en-US" kern="100" dirty="0">
                <a:ea typeface="Calibri" panose="020F0502020204030204" pitchFamily="34" charset="0"/>
                <a:cs typeface="Times New Roman" panose="02020603050405020304" pitchFamily="18" charset="0"/>
              </a:rPr>
              <a:t>Identify two ways that shift power more in Keola’s favor on your health care power wheel. You will have two minutes for this. </a:t>
            </a:r>
          </a:p>
          <a:p>
            <a:pPr marL="0" marR="0" indent="0">
              <a:spcBef>
                <a:spcPts val="0"/>
              </a:spcBef>
              <a:spcAft>
                <a:spcPts val="0"/>
              </a:spcAft>
              <a:buNone/>
            </a:pPr>
            <a:endParaRPr lang="en-US" kern="100" dirty="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3: </a:t>
            </a:r>
            <a:r>
              <a:rPr lang="en-US" kern="100" dirty="0">
                <a:ea typeface="Calibri" panose="020F0502020204030204" pitchFamily="34" charset="0"/>
                <a:cs typeface="Times New Roman" panose="02020603050405020304" pitchFamily="18" charset="0"/>
              </a:rPr>
              <a:t>Share one shift with the class. One minute for each group</a:t>
            </a:r>
            <a:r>
              <a:rPr lang="en-US" kern="100" dirty="0">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576535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795FA24-E94C-8E8E-627E-BC9717F89B87}"/>
              </a:ext>
            </a:extLst>
          </p:cNvPr>
          <p:cNvPicPr>
            <a:picLocks noGrp="1" noChangeAspect="1"/>
          </p:cNvPicPr>
          <p:nvPr>
            <p:ph idx="1"/>
          </p:nvPr>
        </p:nvPicPr>
        <p:blipFill>
          <a:blip r:embed="rId3"/>
          <a:stretch>
            <a:fillRect/>
          </a:stretch>
        </p:blipFill>
        <p:spPr>
          <a:xfrm>
            <a:off x="3843992" y="1253331"/>
            <a:ext cx="4504016" cy="4351338"/>
          </a:xfrm>
          <a:prstGeom prst="rect">
            <a:avLst/>
          </a:prstGeom>
        </p:spPr>
      </p:pic>
      <p:sp>
        <p:nvSpPr>
          <p:cNvPr id="9" name="TextBox 8">
            <a:extLst>
              <a:ext uri="{FF2B5EF4-FFF2-40B4-BE49-F238E27FC236}">
                <a16:creationId xmlns:a16="http://schemas.microsoft.com/office/drawing/2014/main" id="{18FCC4D6-A987-BAC5-5910-7266918DF9BF}"/>
              </a:ext>
            </a:extLst>
          </p:cNvPr>
          <p:cNvSpPr txBox="1"/>
          <p:nvPr/>
        </p:nvSpPr>
        <p:spPr>
          <a:xfrm>
            <a:off x="834453" y="6086007"/>
            <a:ext cx="10523094" cy="707886"/>
          </a:xfrm>
          <a:prstGeom prst="rect">
            <a:avLst/>
          </a:prstGeom>
          <a:noFill/>
        </p:spPr>
        <p:txBody>
          <a:bodyPr wrap="square" rtlCol="0">
            <a:spAutoFit/>
          </a:bodyPr>
          <a:lstStyle/>
          <a:p>
            <a:pPr lvl="0">
              <a:defRPr/>
            </a:pPr>
            <a:r>
              <a:rPr lang="en-US" sz="2000" dirty="0"/>
              <a:t>Adapted from ccrweb.ca, © Slyvia Duckworth. Distributed under the terms of the Creative Commons Attribution 4.0 International License (http://creativecommons.org/licenses/by/4.0/).</a:t>
            </a:r>
          </a:p>
        </p:txBody>
      </p:sp>
    </p:spTree>
    <p:extLst>
      <p:ext uri="{BB962C8B-B14F-4D97-AF65-F5344CB8AC3E}">
        <p14:creationId xmlns:p14="http://schemas.microsoft.com/office/powerpoint/2010/main" val="3817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2077</TotalTime>
  <Words>2535</Words>
  <Application>Microsoft Office PowerPoint</Application>
  <PresentationFormat>Widescreen</PresentationFormat>
  <Paragraphs>239</Paragraphs>
  <Slides>36</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Gill Sans</vt:lpstr>
      <vt:lpstr>Aptos</vt:lpstr>
      <vt:lpstr>Aptos Display</vt:lpstr>
      <vt:lpstr>Arial</vt:lpstr>
      <vt:lpstr>Calibri</vt:lpstr>
      <vt:lpstr>Times New Roman</vt:lpstr>
      <vt:lpstr>Office Theme</vt:lpstr>
      <vt:lpstr>A Good Mimic</vt:lpstr>
      <vt:lpstr>PowerPoint Presentation</vt:lpstr>
      <vt:lpstr>PowerPoint Presentation</vt:lpstr>
      <vt:lpstr>PowerPoint Presentation</vt:lpstr>
      <vt:lpstr>PowerPoint Presentation</vt:lpstr>
      <vt:lpstr>The Next Morning: Thursday </vt:lpstr>
      <vt:lpstr>PowerPoint Presentation</vt:lpstr>
      <vt:lpstr>PowerPoint Presentation</vt:lpstr>
      <vt:lpstr>PowerPoint Presentation</vt:lpstr>
      <vt:lpstr>PowerPoint Presentation</vt:lpstr>
      <vt:lpstr>You have seven minutes for evaluation</vt:lpstr>
      <vt:lpstr>PowerPoint Presentation</vt:lpstr>
      <vt:lpstr>PowerPoint Presentation</vt:lpstr>
      <vt:lpstr>PowerPoint Presentation</vt:lpstr>
      <vt:lpstr>PowerPoint Presentation</vt:lpstr>
      <vt:lpstr>PowerPoint Presentation</vt:lpstr>
      <vt:lpstr>PowerPoint Presentation</vt:lpstr>
      <vt:lpstr>Is this a musculoskeletal (MSK) injury?  If not, then what?</vt:lpstr>
      <vt:lpstr>PowerPoint Presentation</vt:lpstr>
      <vt:lpstr>PowerPoint Presentation</vt:lpstr>
      <vt:lpstr>Your group has seven minutes to pick your top differential diagnosis, and it must include:   S&amp;S, Presentation, Onset, Quality, Severity, Progression, Tests, History </vt:lpstr>
      <vt:lpstr>Listen and Vote On the Clinical Diagnosis</vt:lpstr>
      <vt:lpstr>Just when you think you know what it is, the athlete calls and says,   “I spoke to my mom and dad. I think it’s gout.”  “Can you get me some tart cherry juice, ginger, apple cider vinegar, and lemon juice? This has worked in the past for my family when a flare up has occurred, and it means I don’t have to see the doctor.”  </vt:lpstr>
      <vt:lpstr>PowerPoint Presentation</vt:lpstr>
      <vt:lpstr>PowerPoint Presentation</vt:lpstr>
      <vt:lpstr>“I will call you after I speak to the doctor.”</vt:lpstr>
      <vt:lpstr>PowerPoint Presentation</vt:lpstr>
      <vt:lpstr>What Are You Going to Say to the Physician?</vt:lpstr>
      <vt:lpstr>Physician Response</vt:lpstr>
      <vt:lpstr>PowerPoint Presentation</vt:lpstr>
      <vt:lpstr>Day 2: Next Morning at 7:00 a.m.—Game Day</vt:lpstr>
      <vt:lpstr>PowerPoint Presentation</vt:lpstr>
      <vt:lpstr>You convince Keola to get blood work and urinalysis</vt:lpstr>
      <vt:lpstr>PowerPoint Presentation</vt:lpstr>
      <vt:lpstr>Health Care Power Wheel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Good Mimic</dc:title>
  <dc:creator>Josh Larson</dc:creator>
  <cp:lastModifiedBy>Anna Seaman</cp:lastModifiedBy>
  <cp:revision>37</cp:revision>
  <dcterms:created xsi:type="dcterms:W3CDTF">2025-11-28T22:10:35Z</dcterms:created>
  <dcterms:modified xsi:type="dcterms:W3CDTF">2026-08-12T21:42:08Z</dcterms:modified>
</cp:coreProperties>
</file>