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41" r:id="rId2"/>
    <p:sldId id="362" r:id="rId3"/>
    <p:sldId id="343" r:id="rId4"/>
    <p:sldId id="360" r:id="rId5"/>
    <p:sldId id="361" r:id="rId6"/>
    <p:sldId id="363" r:id="rId7"/>
    <p:sldId id="345" r:id="rId8"/>
    <p:sldId id="364" r:id="rId9"/>
    <p:sldId id="365" r:id="rId10"/>
    <p:sldId id="366" r:id="rId11"/>
    <p:sldId id="367" r:id="rId12"/>
    <p:sldId id="368" r:id="rId13"/>
    <p:sldId id="350" r:id="rId14"/>
    <p:sldId id="351" r:id="rId15"/>
    <p:sldId id="369" r:id="rId16"/>
    <p:sldId id="353" r:id="rId17"/>
    <p:sldId id="354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81" r:id="rId28"/>
    <p:sldId id="380" r:id="rId29"/>
    <p:sldId id="379" r:id="rId30"/>
    <p:sldId id="3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4C-LE" initials="S4C-LE" lastIdx="2" clrIdx="0">
    <p:extLst>
      <p:ext uri="{19B8F6BF-5375-455C-9EA6-DF929625EA0E}">
        <p15:presenceInfo xmlns:p15="http://schemas.microsoft.com/office/powerpoint/2012/main" userId="S4C-LE" providerId="None"/>
      </p:ext>
    </p:extLst>
  </p:cmAuthor>
  <p:cmAuthor id="2" name="Josh Larson" initials="JL" lastIdx="6" clrIdx="1">
    <p:extLst>
      <p:ext uri="{19B8F6BF-5375-455C-9EA6-DF929625EA0E}">
        <p15:presenceInfo xmlns:p15="http://schemas.microsoft.com/office/powerpoint/2012/main" userId="S::u0030524@umail.utah.edu::1264716f-b04e-4019-99da-45793009c918" providerId="AD"/>
      </p:ext>
    </p:extLst>
  </p:cmAuthor>
  <p:cmAuthor id="3" name="Hannah Stedge" initials="HS" lastIdx="5" clrIdx="2">
    <p:extLst>
      <p:ext uri="{19B8F6BF-5375-455C-9EA6-DF929625EA0E}">
        <p15:presenceInfo xmlns:p15="http://schemas.microsoft.com/office/powerpoint/2012/main" userId="283644881_tp_box_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/>
    <p:restoredTop sz="93969" autoAdjust="0"/>
  </p:normalViewPr>
  <p:slideViewPr>
    <p:cSldViewPr snapToGrid="0">
      <p:cViewPr varScale="1">
        <p:scale>
          <a:sx n="104" d="100"/>
          <a:sy n="104" d="100"/>
        </p:scale>
        <p:origin x="64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D1CC-DA6D-B540-B3AB-1D3F7252007E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62947-8F02-F145-81E6-EEB79B8D88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?term=%22Gupta%20Y%22%5BAuthor%5D" TargetMode="External"/><Relationship Id="rId3" Type="http://schemas.openxmlformats.org/officeDocument/2006/relationships/hyperlink" Target="https://doi.org/10.4314/ejhs.v26i6.10" TargetMode="External"/><Relationship Id="rId7" Type="http://schemas.openxmlformats.org/officeDocument/2006/relationships/hyperlink" Target="https://doi.org/10.4314/ejhs.v26i6.10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11" Type="http://schemas.openxmlformats.org/officeDocument/2006/relationships/hyperlink" Target="https://pubmed.ncbi.nlm.nih.gov/28450773/" TargetMode="External"/><Relationship Id="rId10" Type="http://schemas.openxmlformats.org/officeDocument/2006/relationships/hyperlink" Target="https://pubmed.ncbi.nlm.nih.gov/?term=%22Lamichhane%20A%22%5BAuthor%5D" TargetMode="External"/><Relationship Id="rId9" Type="http://schemas.openxmlformats.org/officeDocument/2006/relationships/hyperlink" Target="https://pubmed.ncbi.nlm.nih.gov/?term=%22Mahara%20D%22%5BAuthor%5D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2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4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to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92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Sens spec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54%, 79%,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𝐹𝑁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TP = 54</a:t>
                </a:r>
                <a:endParaRPr lang="en-US" dirty="0"/>
              </a:p>
              <a:p>
                <a:r>
                  <a:rPr lang="en-US" b="1" dirty="0"/>
                  <a:t>FN = 21</a:t>
                </a:r>
                <a:endParaRPr lang="en-US" dirty="0"/>
              </a:p>
              <a:p>
                <a:r>
                  <a:rPr lang="en-US" b="1" dirty="0"/>
                  <a:t>Specificity 72%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𝑇𝑁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TN = 79 </a:t>
                </a:r>
              </a:p>
              <a:p>
                <a:r>
                  <a:rPr lang="en-US" b="1" dirty="0"/>
                  <a:t>FP = 46</a:t>
                </a:r>
              </a:p>
              <a:p>
                <a:r>
                  <a:rPr lang="en-US" b="1" dirty="0"/>
                  <a:t>Specificity 63%</a:t>
                </a:r>
                <a:endParaRPr lang="en-US" dirty="0"/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effectLst/>
                  </a:rPr>
                  <a:t>Data from Gupta Y, Mahara D, Lamichhane, A</a:t>
                </a:r>
                <a:r>
                  <a:rPr lang="en-US" b="0" dirty="0">
                    <a:solidFill>
                      <a:schemeClr val="tx1"/>
                    </a:solidFill>
                    <a:effectLst/>
                  </a:rPr>
                  <a:t>. 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McMurray's Test and joint line tenderness for medial meniscus tear: Are they accurate? </a:t>
                </a:r>
                <a:r>
                  <a:rPr lang="en-US" i="1" dirty="0">
                    <a:effectLst/>
                  </a:rPr>
                  <a:t>Ethiop J Health Sci. </a:t>
                </a:r>
                <a:r>
                  <a:rPr lang="en-US" dirty="0">
                    <a:effectLst/>
                  </a:rPr>
                  <a:t>2016 Nov;26(6):567–572. doi: </a:t>
                </a:r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10.4314/ejhs.v26i6.10</a:t>
                </a:r>
                <a:endParaRPr lang="en-US" dirty="0">
                  <a:effectLst/>
                </a:endParaRP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Sens spec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54%, 79%,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Let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𝑇𝑃+𝐹𝑁=100</a:t>
                </a:r>
                <a:endParaRPr lang="en-US" dirty="0"/>
              </a:p>
              <a:p>
                <a:r>
                  <a:rPr lang="en-US" b="1" dirty="0"/>
                  <a:t>TP = 54</a:t>
                </a:r>
                <a:endParaRPr lang="en-US" dirty="0"/>
              </a:p>
              <a:p>
                <a:r>
                  <a:rPr lang="en-US" b="1" dirty="0"/>
                  <a:t>FN = 46</a:t>
                </a:r>
                <a:endParaRPr lang="en-US" dirty="0"/>
              </a:p>
              <a:p>
                <a:r>
                  <a:rPr lang="en-US" b="1" dirty="0"/>
                  <a:t>Specificity 79%</a:t>
                </a:r>
              </a:p>
              <a:p>
                <a:r>
                  <a:rPr lang="en-US" dirty="0"/>
                  <a:t>Let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𝑇𝑁+𝐹𝑃=100</a:t>
                </a:r>
                <a:endParaRPr lang="en-US" dirty="0"/>
              </a:p>
              <a:p>
                <a:r>
                  <a:rPr lang="en-US" b="1" dirty="0"/>
                  <a:t>TN = 79</a:t>
                </a:r>
                <a:endParaRPr lang="en-US" dirty="0"/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>
                    <a:effectLst/>
                  </a:rPr>
                  <a:t>Ethiop J Health Sci</a:t>
                </a:r>
              </a:p>
              <a:p>
                <a:r>
                  <a:rPr lang="en-US" dirty="0">
                    <a:effectLst/>
                  </a:rPr>
                  <a:t>. 2016 Nov;26(6):567–572. </a:t>
                </a:r>
                <a:r>
                  <a:rPr lang="en-US" dirty="0" err="1">
                    <a:effectLst/>
                  </a:rPr>
                  <a:t>doi</a:t>
                </a:r>
                <a:r>
                  <a:rPr lang="en-US" dirty="0">
                    <a:effectLst/>
                  </a:rPr>
                  <a:t>: </a:t>
                </a:r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7"/>
                  </a:rPr>
                  <a:t>10.4314/ejhs.v26i6.10</a:t>
                </a:r>
                <a:endParaRPr lang="en-US" dirty="0">
                  <a:effectLst/>
                </a:endParaRPr>
              </a:p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McMurray's Test and Joint Line Tenderness for Medial Meniscus Tear: Are They Accurate?</a:t>
                </a:r>
              </a:p>
              <a:p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8"/>
                  </a:rPr>
                  <a:t>Yogendra Gupta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kern="1200" baseline="300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9"/>
                  </a:rPr>
                  <a:t>Deepak Mahara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kern="1200" baseline="300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10"/>
                  </a:rPr>
                  <a:t>Arjun Lamichhane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sz="1200" kern="1200" baseline="300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Author information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Copyright and License information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PMCID: PMC5389077  PMID: </a:t>
                </a:r>
                <a:r>
                  <a:rPr lang="en-US" sz="1200" u="sng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11"/>
                  </a:rPr>
                  <a:t>28450773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84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SeNsitivity = Rule OUT</a:t>
            </a:r>
            <a:r>
              <a:rPr lang="en-US" dirty="0"/>
              <a:t> disease</a:t>
            </a:r>
          </a:p>
          <a:p>
            <a:r>
              <a:rPr lang="en-US" dirty="0"/>
              <a:t>Highly sensitive → if test is </a:t>
            </a:r>
            <a:r>
              <a:rPr lang="en-US" b="1" dirty="0"/>
              <a:t>Negative</a:t>
            </a:r>
            <a:r>
              <a:rPr lang="en-US" dirty="0"/>
              <a:t>, you can confidently </a:t>
            </a:r>
            <a:r>
              <a:rPr lang="en-US" b="1" dirty="0"/>
              <a:t>rule OUT</a:t>
            </a:r>
            <a:br>
              <a:rPr lang="en-US" dirty="0"/>
            </a:br>
            <a:r>
              <a:rPr lang="en-US" dirty="0"/>
              <a:t>(“SnNout”)</a:t>
            </a:r>
          </a:p>
          <a:p>
            <a:r>
              <a:rPr lang="en-US" b="1" dirty="0"/>
              <a:t>SPecificity = Rule IN</a:t>
            </a:r>
            <a:r>
              <a:rPr lang="en-US" dirty="0"/>
              <a:t> disease</a:t>
            </a:r>
          </a:p>
          <a:p>
            <a:r>
              <a:rPr lang="en-US" dirty="0"/>
              <a:t>Highly specific → if test is </a:t>
            </a:r>
            <a:r>
              <a:rPr lang="en-US" b="1" dirty="0"/>
              <a:t>Positive</a:t>
            </a:r>
            <a:r>
              <a:rPr lang="en-US" dirty="0"/>
              <a:t>, you can confidently </a:t>
            </a:r>
            <a:r>
              <a:rPr lang="en-US" b="1" dirty="0"/>
              <a:t>rule IN</a:t>
            </a:r>
            <a:br>
              <a:rPr lang="en-US" dirty="0"/>
            </a:br>
            <a:r>
              <a:rPr lang="en-US" dirty="0"/>
              <a:t>(“SpPin”)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9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95CF-2AD9-DA68-77B9-5D6BC7CA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B3B0F-6721-5420-A1FE-7F3F5C6C7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6F995-563F-5DCC-2F82-AD9E039F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Let</a:t>
            </a:r>
          </a:p>
          <a:p>
            <a:r>
              <a:rPr lang="en-US" b="1" dirty="0"/>
              <a:t>TP = 75</a:t>
            </a:r>
          </a:p>
          <a:p>
            <a:r>
              <a:rPr lang="en-US" b="1" dirty="0"/>
              <a:t>TN = 125</a:t>
            </a:r>
          </a:p>
          <a:p>
            <a:r>
              <a:rPr lang="en-US" b="1" dirty="0"/>
              <a:t>FP = 21</a:t>
            </a:r>
          </a:p>
          <a:p>
            <a:r>
              <a:rPr lang="en-US" dirty="0"/>
              <a:t>FN = 46</a:t>
            </a:r>
          </a:p>
          <a:p>
            <a:r>
              <a:rPr lang="en-US" dirty="0"/>
              <a:t>Accuracy for positive and negative results = 75%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FF61-31F8-22B7-3866-87B74F9EA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14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2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7886-D153-C190-6EED-5158670D1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4A468-0FFA-7B1A-37A8-18F6DD09F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6EF7A-31C2-9223-F229-3A10DF63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428C4-759A-FEA0-F9E8-E936BA05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B4687-279B-C924-590F-48E97E22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0531-3FFF-E693-F3BD-5BD66B5C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6598E-AEE5-FF12-28A5-6FB64606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366E7-B0AB-D443-3105-F99C33E7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6380E-58FE-C6AD-9228-77CF4B00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F06BD-83FB-0E20-ABAA-4BC08C5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24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E68F-74D7-32FF-686F-B57A76BF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672F1-1B6C-B98D-2130-FECAF8D4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54DD-0D01-FF5F-5E43-12A9D321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5855-EACB-F81B-03E9-556CFD55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85F7-D438-3869-EAFE-855A405B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23D9-7CFF-0EFD-E526-B56670B1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3271-53F9-C20B-F6AB-86FAD2B23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E1656-E3EA-DC25-8949-C06384922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163BA-44C7-EB07-2DFB-FD979588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7A60C-66C7-7B38-69EE-D2BC11A3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593A7-F12B-A716-4753-61B007A7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2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4A50-9467-1BDA-6A76-59D77E5F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5B9FE-A680-7642-6C2D-6BC9FA6D7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AC3FD-43F9-F279-811B-7A3F9750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DFEA8-8339-2BB3-9F2E-A4F89359E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1F25C-131E-006A-160E-7DEC41E10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0DE442-4FB1-F5BF-275C-827DE863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7FA9D-34B0-16BE-3899-877643FF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61CEE-19ED-7C5C-FBA0-CD852CE7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8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E268-098E-BB93-4B4E-69AB3AF6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42B50-F3D8-55D1-14EF-F1A4B5B1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0FB5A-EDF2-2356-6165-4AFBB8DD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46EAB-A325-8B4B-42E4-DC433974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6365E-BF57-976A-4B08-636198F6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A5253-DD13-1DC6-7F89-AAAE3F6E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21D85-DE73-5CCC-8202-920626AE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0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111A-7D55-2584-FE60-F59449C69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B67E-CC36-B1DC-D979-2F3DF189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CFAD1-5385-87CF-F199-6DCAF0A2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FA105-65A1-4ADB-A6F9-2E46ECBB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E617A-CBE5-CEFD-D0E4-0A90FB04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B00EF-23F5-C046-6140-6636FEE2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2AA6-BC67-5303-D30A-E94ED82C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D5B40-3976-E4E4-BA2A-63DE79479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34D24-0680-18B3-5A4E-B5D25AB22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1AD18-7BA3-A584-51FA-B60C56F7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8D79D-AC5F-A522-08D5-6826AFA0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0D03D-7FBE-2CCA-64DB-0D9A6416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0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1C16-F02B-A6A5-37D8-A0E29736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E230F-0778-990B-1BB4-D42F25720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64C2-05D4-064C-A736-52F83EFF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19DB-61A2-8538-4245-4A5088EE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59E4B-089B-F0FA-6DFE-76590E3D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7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4AAB8-4602-9738-7336-9A505C058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70FE2-3DE9-4B04-9E93-BF914E6C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3629-ADE0-42C4-9AA2-1CE6BA45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4B5B-604F-F2FB-B710-DF9724C2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622A7-565C-2405-61D8-500B95B6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6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79408-8651-3097-6F5E-2FD7A8AA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4AB7-D08D-1F7A-B166-C5F0A95FF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E8C6-D6E1-D2B1-6ABA-A4F09568F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51BD0-6F40-8441-BA56-9EA644E5E3F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5ACD5-FCFA-82D6-8193-FFD80005B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F7A8-7DEB-028B-37CF-3C3C5EC69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8540-1C9C-1CDA-5FC2-122B86BEE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608CD-415E-C9C5-6567-751230283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422544"/>
          </a:xfrm>
        </p:spPr>
        <p:txBody>
          <a:bodyPr/>
          <a:lstStyle/>
          <a:p>
            <a:r>
              <a:rPr lang="en-US" dirty="0"/>
              <a:t>Knee Pain</a:t>
            </a:r>
          </a:p>
          <a:p>
            <a:endParaRPr lang="en-US" dirty="0"/>
          </a:p>
          <a:p>
            <a:r>
              <a:rPr lang="en-US" dirty="0"/>
              <a:t>Split into groups</a:t>
            </a:r>
          </a:p>
        </p:txBody>
      </p:sp>
    </p:spTree>
    <p:extLst>
      <p:ext uri="{BB962C8B-B14F-4D97-AF65-F5344CB8AC3E}">
        <p14:creationId xmlns:p14="http://schemas.microsoft.com/office/powerpoint/2010/main" val="216237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B85D-D116-174C-93E6-6D60C647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031"/>
            <a:ext cx="10515600" cy="304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sophomore high school football player comes to you after the game complaining of knee pain, particularly when rotating or bending.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will you do for this nonemergent knee pain?  Consider two to three things for each category: observation, inspection, palpation, and history—discuss and make a list.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6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33AA2B-3790-89F9-1B8C-15A46EB8A8B0}"/>
              </a:ext>
            </a:extLst>
          </p:cNvPr>
          <p:cNvSpPr txBox="1"/>
          <p:nvPr/>
        </p:nvSpPr>
        <p:spPr>
          <a:xfrm>
            <a:off x="764771" y="2090172"/>
            <a:ext cx="110947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a typeface="Aptos" panose="020B0004020202020204" pitchFamily="34" charset="0"/>
                <a:cs typeface="Times New Roman" panose="02020603050405020304" pitchFamily="18" charset="0"/>
              </a:rPr>
              <a:t>On the board, I would like each group to write at least one unique differential diagnosis for this patient presentation.</a:t>
            </a:r>
            <a:endParaRPr lang="en-US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cs typeface="Times New Roman" panose="02020603050405020304" pitchFamily="18" charset="0"/>
              </a:rPr>
              <a:t>On the board, I would like each group to write two unique exam actions for this patient presentation. They can be observation, inspection, palpation, or history-related actions. </a:t>
            </a:r>
          </a:p>
        </p:txBody>
      </p:sp>
    </p:spTree>
    <p:extLst>
      <p:ext uri="{BB962C8B-B14F-4D97-AF65-F5344CB8AC3E}">
        <p14:creationId xmlns:p14="http://schemas.microsoft.com/office/powerpoint/2010/main" val="88623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8BC1F-A9F6-9CEC-CEEE-8A1FE3F6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Patient 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8EFBE-7276-77B1-DDBA-660A86EE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Pain is 5/10</a:t>
            </a:r>
          </a:p>
          <a:p>
            <a:r>
              <a:rPr lang="en-US" dirty="0"/>
              <a:t>Pain increases to 7/10 with palpation around joint line (tibial plateau).</a:t>
            </a:r>
          </a:p>
          <a:p>
            <a:r>
              <a:rPr lang="en-US" dirty="0"/>
              <a:t>Pain increases when twisting and flexing and in deep knee bends.</a:t>
            </a:r>
          </a:p>
          <a:p>
            <a:r>
              <a:rPr lang="en-US" dirty="0"/>
              <a:t>Patient does not have a history of knee pain.</a:t>
            </a:r>
          </a:p>
          <a:p>
            <a:r>
              <a:rPr lang="en-US" dirty="0"/>
              <a:t>Patient states that pain started after catching the ball and averting a tackle.</a:t>
            </a:r>
          </a:p>
        </p:txBody>
      </p:sp>
    </p:spTree>
    <p:extLst>
      <p:ext uri="{BB962C8B-B14F-4D97-AF65-F5344CB8AC3E}">
        <p14:creationId xmlns:p14="http://schemas.microsoft.com/office/powerpoint/2010/main" val="287152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63FB-D27C-6433-88FF-5967F9F4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the board and this patient presentation, answer the following:</a:t>
            </a:r>
          </a:p>
          <a:p>
            <a:pPr indent="-320040">
              <a:buAutoNum type="arabicPeriod"/>
            </a:pP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likely the pathology?</a:t>
            </a:r>
          </a:p>
          <a:p>
            <a:pPr indent="-320040">
              <a:buAutoNum type="arabicPeriod"/>
            </a:pP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Why? </a:t>
            </a:r>
          </a:p>
          <a:p>
            <a:pPr indent="-32004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anything be added or removed from the board?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is 5/10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increases to 7/10 with palpation around joint line (tibial plateau).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increases when twisting and flexing and in deep knee bends.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does not have a history of knee pain.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states that pain started after catching the ball and averting a tackle.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07A3-1D07-874E-3DE4-38CFF94E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2504"/>
            <a:ext cx="10515600" cy="9729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special tests or evaluations can we do to assess for a meniscus injury?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9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3DBD-1826-4FE7-599A-D10CFD27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674"/>
            <a:ext cx="10515600" cy="4726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you are not familiar with these tests, I will show them and we will practice them now.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are familiar, please break into pairs and demonstrate each of the special tests you will perform to evaluate a meniscus injury.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Meniscus special tests may include joint line tenderness, deep squat test, McMurray’s test, Thessaly’s, and Apley’s.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will do this for the next 15 to 20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08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611F-0627-18B5-BFFB-556A69C2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955"/>
            <a:ext cx="10515600" cy="47360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Patient seems injured. </a:t>
            </a:r>
            <a:br>
              <a:rPr lang="en-US" dirty="0">
                <a:cs typeface="Times New Roman" panose="02020603050405020304" pitchFamily="18" charset="0"/>
              </a:rPr>
            </a:b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Your special tests provoke pain for the patient.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  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The tests seem positive.  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There is joint line tenderness and a clunk with McMurray’s.  There is a positive test, what now?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What do you want to do now?  How confident are you about these tests?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5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FEA1-0E7C-6752-1536-A910E5A9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attempt to call the athlete’s mother. What would you say to the mother?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Things to consider during the call:</a:t>
            </a:r>
          </a:p>
          <a:p>
            <a:r>
              <a:rPr lang="en-US" dirty="0">
                <a:cs typeface="Times New Roman" panose="02020603050405020304" pitchFamily="18" charset="0"/>
              </a:rPr>
              <a:t>Privacy</a:t>
            </a:r>
          </a:p>
          <a:p>
            <a:r>
              <a:rPr lang="en-US" dirty="0">
                <a:cs typeface="Times New Roman" panose="02020603050405020304" pitchFamily="18" charset="0"/>
              </a:rPr>
              <a:t>HIPAA</a:t>
            </a:r>
          </a:p>
          <a:p>
            <a:r>
              <a:rPr lang="en-US" dirty="0">
                <a:cs typeface="Times New Roman" panose="02020603050405020304" pitchFamily="18" charset="0"/>
              </a:rPr>
              <a:t>Athlete is a minor</a:t>
            </a:r>
          </a:p>
          <a:p>
            <a:r>
              <a:rPr lang="en-US" dirty="0">
                <a:cs typeface="Times New Roman" panose="02020603050405020304" pitchFamily="18" charset="0"/>
              </a:rPr>
              <a:t>What can we confirm with the mother about the injury? </a:t>
            </a:r>
          </a:p>
          <a:p>
            <a:r>
              <a:rPr lang="en-US" dirty="0">
                <a:cs typeface="Times New Roman" panose="02020603050405020304" pitchFamily="18" charset="0"/>
              </a:rPr>
              <a:t>What do we want to do next?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9EE7-4CA0-AC39-0AB7-37234BCD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8685"/>
            <a:ext cx="10515600" cy="8806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is no answer and so you leave a  message to call back. In the end, you send the athlete home.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1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4A19-8417-01BB-B021-CD290871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2746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next morning you meet with the athlete: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athlete says, “We don’t have health insurance.  Is there anything I can do?  Can I do some rehab? Can I see you every day after school? Are you 100 percent sure I tore my meniscus?  Will it heal on its own?”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81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FC0C-A76E-DB08-6804-A8B28A4B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8722"/>
            <a:ext cx="11233727" cy="33005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How do you answer the athlete’s questions?</a:t>
            </a: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Will it heal on its own?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What are the options for healing or rehab?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Can we try a wait-and-see approach?  Does the athlete need to be seen now?  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Are we 100 percent confident in this diagnosis?  Let’s see</a:t>
            </a:r>
            <a:r>
              <a:rPr 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16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B8E2DC-9AFE-1AEE-8443-8EF5499B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26452"/>
              </p:ext>
            </p:extLst>
          </p:nvPr>
        </p:nvGraphicFramePr>
        <p:xfrm>
          <a:off x="1536092" y="930416"/>
          <a:ext cx="9119816" cy="544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292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76638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401943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401943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81153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 test result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+ + You tested positive and you have this condition</a:t>
                      </a:r>
                    </a:p>
                  </a:txBody>
                  <a:tcPr marL="80022" marR="80022" marT="40010" marB="4001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+ − You tested positive but do not have this condition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positive test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 test result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− + You tested negative, but you have this condition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− − You tested negative, and you do not have this condition</a:t>
                      </a:r>
                    </a:p>
                  </a:txBody>
                  <a:tcPr marL="80022" marR="80022" marT="40010" marB="40010" anchor="ctr">
                    <a:solidFill>
                      <a:srgbClr val="7030A0">
                        <a:alpha val="596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negative test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80022" marR="80022" marT="40010" marB="4001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disease</a:t>
                      </a:r>
                    </a:p>
                  </a:txBody>
                  <a:tcPr marL="80022" marR="80022" marT="40010" marB="4001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without disease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0022" marR="80022" marT="40010" marB="4001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F1BC3A2-623C-FB98-A8FD-585EE9CF76D6}"/>
              </a:ext>
            </a:extLst>
          </p:cNvPr>
          <p:cNvSpPr txBox="1"/>
          <p:nvPr/>
        </p:nvSpPr>
        <p:spPr>
          <a:xfrm>
            <a:off x="2969491" y="177341"/>
            <a:ext cx="6253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“Are you 100% sure I tore my meniscus?”</a:t>
            </a:r>
          </a:p>
        </p:txBody>
      </p:sp>
    </p:spTree>
    <p:extLst>
      <p:ext uri="{BB962C8B-B14F-4D97-AF65-F5344CB8AC3E}">
        <p14:creationId xmlns:p14="http://schemas.microsoft.com/office/powerpoint/2010/main" val="52419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EBCF-0651-A512-00CC-6DE7AA80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Autofit/>
          </a:bodyPr>
          <a:lstStyle/>
          <a:p>
            <a:r>
              <a:rPr lang="en-US" sz="2800" dirty="0">
                <a:cs typeface="Times New Roman" panose="02020603050405020304" pitchFamily="18" charset="0"/>
              </a:rPr>
              <a:t>What is the sensitivity and specificity for a McMurray medial meniscus test with these numbers?  Calculate in groups of two or three.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52CF74-2EBA-8073-7A9C-44C35FC0B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776266"/>
              </p:ext>
            </p:extLst>
          </p:nvPr>
        </p:nvGraphicFramePr>
        <p:xfrm>
          <a:off x="1617811" y="1371600"/>
          <a:ext cx="8956377" cy="411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59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39420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77564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1F7E4-6C9F-D786-3B13-755A8631B0C5}"/>
              </a:ext>
            </a:extLst>
          </p:cNvPr>
          <p:cNvSpPr txBox="1"/>
          <p:nvPr/>
        </p:nvSpPr>
        <p:spPr>
          <a:xfrm>
            <a:off x="3994119" y="5486399"/>
            <a:ext cx="177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Sensitivity = TP/(TP + FN)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CAE8B-CD60-4219-7B7A-9CA16EEA3CA6}"/>
              </a:ext>
            </a:extLst>
          </p:cNvPr>
          <p:cNvSpPr txBox="1"/>
          <p:nvPr/>
        </p:nvSpPr>
        <p:spPr>
          <a:xfrm>
            <a:off x="6095999" y="5486399"/>
            <a:ext cx="1893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Specificity = TN/(TN + FP)</a:t>
            </a:r>
          </a:p>
        </p:txBody>
      </p:sp>
    </p:spTree>
    <p:extLst>
      <p:ext uri="{BB962C8B-B14F-4D97-AF65-F5344CB8AC3E}">
        <p14:creationId xmlns:p14="http://schemas.microsoft.com/office/powerpoint/2010/main" val="105514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15D-D76E-E3A3-2B54-0A11D37B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1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Sensitivity = the proportion of people who tested positive for the condition compared to the total number of the people that the condition. TP/(TP + FN)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Specificity = the proportion of people that tested negative for the condition compared to the total number of the people that do not have the condition.  TN/(TN + FP)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64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DA2A3-D551-6F5E-BC6C-6E70DA90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977"/>
            <a:ext cx="10877550" cy="1389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According to the numbers, this test correctly identifies a positive meniscal injury as positive 72% of the time (sensitivity) and negative when it is negative 63% of the time  (specificity).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D16BE6-CC16-C9C7-4FC1-290CD7E3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72683"/>
              </p:ext>
            </p:extLst>
          </p:nvPr>
        </p:nvGraphicFramePr>
        <p:xfrm>
          <a:off x="1617811" y="1923393"/>
          <a:ext cx="8956377" cy="411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59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39420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77564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FA32-B8BD-2413-3AE0-40F57D35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895B-9C45-7B33-2FDF-A3C4AB6A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455"/>
            <a:ext cx="10877550" cy="18377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dirty="0">
                <a:latin typeface="+mj-lt"/>
                <a:cs typeface="Times New Roman" panose="02020603050405020304" pitchFamily="18" charset="0"/>
              </a:rPr>
              <a:t>Let’s look at the accuracy though. The accuracy tells us the proportion of actual positives and actual negatives. To calculate accuracy of the test, use the following:</a:t>
            </a:r>
          </a:p>
          <a:p>
            <a:pPr marL="0" indent="0">
              <a:buNone/>
            </a:pPr>
            <a:endParaRPr lang="en-US" sz="3300" dirty="0">
              <a:latin typeface="+mj-lt"/>
            </a:endParaRPr>
          </a:p>
          <a:p>
            <a:pPr marL="0" indent="0">
              <a:buNone/>
            </a:pPr>
            <a:r>
              <a:rPr lang="en-US" sz="3300" dirty="0">
                <a:latin typeface="+mj-lt"/>
                <a:cs typeface="Times New Roman" panose="02020603050405020304" pitchFamily="18" charset="0"/>
              </a:rPr>
              <a:t>Accuracy = (TP + TN) / (TP + TN + FP + FN)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D31C6-00EE-70A5-78CC-507E577C9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6123"/>
              </p:ext>
            </p:extLst>
          </p:nvPr>
        </p:nvGraphicFramePr>
        <p:xfrm>
          <a:off x="1753914" y="2512369"/>
          <a:ext cx="8684172" cy="3003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322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1977438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287206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287206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818871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68279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68279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6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81887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98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2272-0165-32DF-35A2-DA12F505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904"/>
            <a:ext cx="10515600" cy="168419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Based on the test accuracy overall and sensitivity and specificity of this test, are we still certain about the diagnosis?</a:t>
            </a:r>
            <a:br>
              <a:rPr lang="en-US" dirty="0">
                <a:cs typeface="Times New Roman" panose="02020603050405020304" pitchFamily="18" charset="0"/>
              </a:rPr>
            </a:b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What factors might affect the sensitivity or specificity?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60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1065-BB20-2F5C-6EF6-AA95CAEB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2819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Other factors that would affect your certainty?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00BA-2D10-957A-DE42-F3CEC506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84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Education and background of clinician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Experience of clinician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Procedure or protocol of test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Subjective patient experience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Time since injury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Level of injury (severe, minor, uninjured)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Special tests: Sensitivity and specificity</a:t>
            </a:r>
          </a:p>
        </p:txBody>
      </p:sp>
    </p:spTree>
    <p:extLst>
      <p:ext uri="{BB962C8B-B14F-4D97-AF65-F5344CB8AC3E}">
        <p14:creationId xmlns:p14="http://schemas.microsoft.com/office/powerpoint/2010/main" val="452599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BA03-E31E-16F1-4B84-4CA14319D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301"/>
            <a:ext cx="10515600" cy="537339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cs typeface="Times New Roman" panose="02020603050405020304" pitchFamily="18" charset="0"/>
              </a:rPr>
              <a:t>Now that we are less sure, what would we do for a wait-and-see approach?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Anatomy and physiology?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Return to play (RTP)?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Exercise parameters, restrictions, or both?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Is there any rehab for this patient while waiting?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Definitive guidelines?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Can we wait on imaging?  Until when?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Can the athlete be physically active?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What do we tell a physician?  Can we wait for two weeks, especially without insurance?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707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2043-FE6A-9477-0222-1FEBDB69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4722"/>
            <a:ext cx="10515600" cy="12685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It has now been two weeks and the patient has had no improvement.  Pain is at the same level during the same activities.  Now what do you want to do?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48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3C8-B87F-543F-29EF-5A54132CB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51"/>
            <a:ext cx="10515600" cy="64712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You have or have not spoken to the mother.  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may be some reasons that the mother has not communicated with us about this?</a:t>
            </a: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are some solutions for improving our communication?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You know the athlete has no insurance.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Why do people not have insurance? 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are some factors?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Why do individuals who are employed not have insurance?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are the common misconceptions?  Discussion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Why do people have no insurance, and what does that mean?  </a:t>
            </a: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is your assumption about their socioeconomic status?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How do they live?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other problems or fears might this person be experiencing?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thoughts and worries do you think the mother is experiencing?</a:t>
            </a:r>
          </a:p>
        </p:txBody>
      </p:sp>
    </p:spTree>
    <p:extLst>
      <p:ext uri="{BB962C8B-B14F-4D97-AF65-F5344CB8AC3E}">
        <p14:creationId xmlns:p14="http://schemas.microsoft.com/office/powerpoint/2010/main" val="1823502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8D73-38CB-77AC-EFE0-50B3622B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BE8B-CE57-7ABA-899F-97CCF84D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475"/>
            <a:ext cx="10515600" cy="6055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>
                <a:cs typeface="Times New Roman" panose="02020603050405020304" pitchFamily="18" charset="0"/>
              </a:rPr>
              <a:t>What can people who are uninsured do to get health care?  What are the options and how can you assist, as a health care provider? </a:t>
            </a:r>
            <a:br>
              <a:rPr lang="en-US" sz="2600" dirty="0">
                <a:cs typeface="Times New Roman" panose="02020603050405020304" pitchFamily="18" charset="0"/>
              </a:rPr>
            </a:br>
            <a:br>
              <a:rPr lang="en-US" sz="2600" dirty="0">
                <a:cs typeface="Times New Roman" panose="02020603050405020304" pitchFamily="18" charset="0"/>
              </a:rPr>
            </a:br>
            <a:r>
              <a:rPr lang="en-US" sz="2600" dirty="0">
                <a:cs typeface="Times New Roman" panose="02020603050405020304" pitchFamily="18" charset="0"/>
              </a:rPr>
              <a:t>Divide into four groups. You will have eight minutes to investigate the following resource and two minutes for each group to report on the process and what was discovered. </a:t>
            </a:r>
          </a:p>
          <a:p>
            <a:pPr marL="0" indent="0">
              <a:buNone/>
            </a:pPr>
            <a:endParaRPr lang="en-US" sz="2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1: </a:t>
            </a:r>
            <a:r>
              <a:rPr lang="en-US" sz="2600" dirty="0">
                <a:cs typeface="Times New Roman" panose="02020603050405020304" pitchFamily="18" charset="0"/>
              </a:rPr>
              <a:t>What are the eligibility requirements for CHIP or Medicaid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2: </a:t>
            </a:r>
            <a:r>
              <a:rPr lang="en-US" sz="2600" dirty="0">
                <a:cs typeface="Times New Roman" panose="02020603050405020304" pitchFamily="18" charset="0"/>
              </a:rPr>
              <a:t>Who is eligible for insurance through the exchange? Look up FAQs on insurance through the exchange.  What did you learn?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3: </a:t>
            </a:r>
            <a:r>
              <a:rPr lang="en-US" sz="2600" dirty="0">
                <a:cs typeface="Times New Roman" panose="02020603050405020304" pitchFamily="18" charset="0"/>
              </a:rPr>
              <a:t>Who is eligible for free or reduced clinic care in this area, and what services do they offer? You will need to find a local clinic or resource for this. 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4: </a:t>
            </a:r>
            <a:r>
              <a:rPr lang="en-US" sz="2600" dirty="0">
                <a:cs typeface="Times New Roman" panose="02020603050405020304" pitchFamily="18" charset="0"/>
              </a:rPr>
              <a:t>Are there resources available at a local hospital to assist individuals in seeking health insurance? </a:t>
            </a:r>
          </a:p>
        </p:txBody>
      </p:sp>
    </p:spTree>
    <p:extLst>
      <p:ext uri="{BB962C8B-B14F-4D97-AF65-F5344CB8AC3E}">
        <p14:creationId xmlns:p14="http://schemas.microsoft.com/office/powerpoint/2010/main" val="3016027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CD0A-FCE7-1C61-6FAA-E1C4AAE9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How was it? Tell us what you discovered. (2 minutes)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2016D-98AA-662B-ACD3-657BE7B2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What was the search process like?  Easy, difficult, confusing?  </a:t>
            </a:r>
          </a:p>
          <a:p>
            <a:r>
              <a:rPr lang="en-US" dirty="0">
                <a:cs typeface="Times New Roman" panose="02020603050405020304" pitchFamily="18" charset="0"/>
              </a:rPr>
              <a:t>How much time do you think it would take to figure out everything that you need?  Could you do it in one sitting?  </a:t>
            </a:r>
          </a:p>
          <a:p>
            <a:r>
              <a:rPr lang="en-US" dirty="0">
                <a:cs typeface="Times New Roman" panose="02020603050405020304" pitchFamily="18" charset="0"/>
              </a:rPr>
              <a:t>Do you need to do it during working hours or on weekdays?  </a:t>
            </a:r>
          </a:p>
          <a:p>
            <a:r>
              <a:rPr lang="en-US" dirty="0">
                <a:cs typeface="Times New Roman" panose="02020603050405020304" pitchFamily="18" charset="0"/>
              </a:rPr>
              <a:t>Did you get, or do you think it is possible to get, a definitive answer for what the coverage looks like?  </a:t>
            </a:r>
          </a:p>
          <a:p>
            <a:r>
              <a:rPr lang="en-US" dirty="0">
                <a:cs typeface="Times New Roman" panose="02020603050405020304" pitchFamily="18" charset="0"/>
              </a:rPr>
              <a:t>What are the renewal or continuing coverage requirements?  For instance, how often does Medicaid need documentation to prove eligibility?</a:t>
            </a:r>
          </a:p>
          <a:p>
            <a:r>
              <a:rPr lang="en-US" dirty="0">
                <a:cs typeface="Times New Roman" panose="02020603050405020304" pitchFamily="18" charset="0"/>
              </a:rPr>
              <a:t>Does anyone have any personal experience with the insurance process that they would like to share?</a:t>
            </a:r>
          </a:p>
        </p:txBody>
      </p:sp>
    </p:spTree>
    <p:extLst>
      <p:ext uri="{BB962C8B-B14F-4D97-AF65-F5344CB8AC3E}">
        <p14:creationId xmlns:p14="http://schemas.microsoft.com/office/powerpoint/2010/main" val="2180148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369D-A5F5-3D04-A28C-04CA2815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We’ve reached the athlete’s mother!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22D7-C18E-6DF3-EF42-204A3FB6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452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do you talk to this athlete, their parents, or both about the situation? 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do we prevent being prescriptive and catastrophizing?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if they say it may not be an option?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is your role here?  Are you the expert, or can you provide a warm handoff to one of the resources you investigated?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follow-up is necessary, and how will you accomplish it?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can this be a collaboration?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7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77B5-FCD8-9F11-3FFC-CF336EED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176"/>
            <a:ext cx="10515600" cy="357764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Who is ready to have this conversation?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Two student volunteers</a:t>
            </a:r>
          </a:p>
          <a:p>
            <a:pPr indent="-320040"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the mother</a:t>
            </a:r>
          </a:p>
          <a:p>
            <a:pPr indent="-320040"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the HCP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This conversation should last 7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63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5FBB-63C7-56D1-E768-6BF71F09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EAE7-1291-CF4A-97BE-BD7774534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846"/>
            <a:ext cx="10515600" cy="6350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While the family is appreciative for the insurance coverage, it was not easy. Here are some realistic situations that may occur, even with coverage.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It can take a month or more to complete the paperwork, process, and obtain Medicaid coverage.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Once coverage is obtained, a provider must be willing to take Medicaid and it must be scheduled.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It is not unusual for surgery clinicals to operate during working hours, so the mother would need to miss work, and the student would need to miss school.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If rehabilitation is covered, is usually limited in session time and number of sessions. Again, the mother must find a rehabilitation center willing to accept Medicaid and if they choose to participate in rehabilitation, it will likely be during working and school hours. </a:t>
            </a:r>
          </a:p>
        </p:txBody>
      </p:sp>
    </p:spTree>
    <p:extLst>
      <p:ext uri="{BB962C8B-B14F-4D97-AF65-F5344CB8AC3E}">
        <p14:creationId xmlns:p14="http://schemas.microsoft.com/office/powerpoint/2010/main" val="492314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B09A-D3EC-5639-E8A5-A4F36BC3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885"/>
            <a:ext cx="10515600" cy="403023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Given the timeline from the athlete’s initial injury, how can we define the value of the care you provided or that others provided and the care received by this patient?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A popular way to describe value in health care is to define Value as the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Quality Service and Access divided by the Cost.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Let’s discuss the variables of this equation. How could these variables be modified for the patient or the mother to increase the Value?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4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93DD-819B-E83E-4DA9-50698A3E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5B68-D5B3-9223-1E40-E334E26B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996"/>
            <a:ext cx="10515600" cy="61100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Did this situation involve equity, access, delivery, or health education issues?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What is the AT’s role in improving the equity, access, delivery, or health education issue?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Is it likely possible for an individual to spend this amount of time for each patient who has a health equity, access, delivery, or health education problem? What options exist for improving these issues if spending this amount of time is unreasonable?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If this is not your ”burden”, how can health care providers change the institution or other points of contact to alleviate this burden?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Do you have any specific actions you can perform to improve the Value equation to improve the value of your work?</a:t>
            </a:r>
          </a:p>
        </p:txBody>
      </p:sp>
    </p:spTree>
    <p:extLst>
      <p:ext uri="{BB962C8B-B14F-4D97-AF65-F5344CB8AC3E}">
        <p14:creationId xmlns:p14="http://schemas.microsoft.com/office/powerpoint/2010/main" val="996710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BCE5-6778-A265-E88C-D9E3B605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Questions/Concerns/Answers</a:t>
            </a:r>
          </a:p>
        </p:txBody>
      </p:sp>
    </p:spTree>
    <p:extLst>
      <p:ext uri="{BB962C8B-B14F-4D97-AF65-F5344CB8AC3E}">
        <p14:creationId xmlns:p14="http://schemas.microsoft.com/office/powerpoint/2010/main" val="257518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2112</TotalTime>
  <Words>2185</Words>
  <Application>Microsoft Office PowerPoint</Application>
  <PresentationFormat>Widescreen</PresentationFormat>
  <Paragraphs>251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Office Theme</vt:lpstr>
      <vt:lpstr>Case 1</vt:lpstr>
      <vt:lpstr>PowerPoint Presentation</vt:lpstr>
      <vt:lpstr>PowerPoint Presentation</vt:lpstr>
      <vt:lpstr>Patient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sensitivity and specificity for a McMurray medial meniscus test with these numbers?  Calculate in groups of two or three.</vt:lpstr>
      <vt:lpstr>PowerPoint Presentation</vt:lpstr>
      <vt:lpstr>PowerPoint Presentation</vt:lpstr>
      <vt:lpstr>PowerPoint Presentation</vt:lpstr>
      <vt:lpstr>PowerPoint Presentation</vt:lpstr>
      <vt:lpstr>Other factors that would affect your certainty?</vt:lpstr>
      <vt:lpstr>PowerPoint Presentation</vt:lpstr>
      <vt:lpstr>PowerPoint Presentation</vt:lpstr>
      <vt:lpstr>PowerPoint Presentation</vt:lpstr>
      <vt:lpstr>PowerPoint Presentation</vt:lpstr>
      <vt:lpstr>How was it? Tell us what you discovered. (2 minutes)</vt:lpstr>
      <vt:lpstr>We’ve reached the athlete’s mother!</vt:lpstr>
      <vt:lpstr>PowerPoint Presentation</vt:lpstr>
      <vt:lpstr>PowerPoint Presentation</vt:lpstr>
      <vt:lpstr>PowerPoint Presentation</vt:lpstr>
      <vt:lpstr>PowerPoint Presentation</vt:lpstr>
      <vt:lpstr>Questions/Concerns/Answers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Good Mimic</dc:title>
  <dc:creator>Josh Larson</dc:creator>
  <cp:lastModifiedBy>Anna Seaman</cp:lastModifiedBy>
  <cp:revision>38</cp:revision>
  <dcterms:created xsi:type="dcterms:W3CDTF">2025-11-28T22:10:35Z</dcterms:created>
  <dcterms:modified xsi:type="dcterms:W3CDTF">2026-08-12T01:07:47Z</dcterms:modified>
</cp:coreProperties>
</file>